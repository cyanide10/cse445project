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grandir Bold" charset="1" panose="00000800000000000000"/>
      <p:regular r:id="rId19"/>
    </p:embeddedFont>
    <p:embeddedFont>
      <p:font typeface="Agrandir" charset="1" panose="00000500000000000000"/>
      <p:regular r:id="rId20"/>
    </p:embeddedFont>
    <p:embeddedFont>
      <p:font typeface="Anton" charset="1" panose="00000500000000000000"/>
      <p:regular r:id="rId21"/>
    </p:embeddedFont>
    <p:embeddedFont>
      <p:font typeface="DM Sans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00390" y="238923"/>
            <a:ext cx="9495560" cy="2434316"/>
          </a:xfrm>
          <a:custGeom>
            <a:avLst/>
            <a:gdLst/>
            <a:ahLst/>
            <a:cxnLst/>
            <a:rect r="r" b="b" t="t" l="l"/>
            <a:pathLst>
              <a:path h="2434316" w="9495560">
                <a:moveTo>
                  <a:pt x="0" y="0"/>
                </a:moveTo>
                <a:lnTo>
                  <a:pt x="9495560" y="0"/>
                </a:lnTo>
                <a:lnTo>
                  <a:pt x="9495560" y="2434316"/>
                </a:lnTo>
                <a:lnTo>
                  <a:pt x="0" y="24343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38029" y="3902212"/>
            <a:ext cx="2293641" cy="693771"/>
            <a:chOff x="0" y="0"/>
            <a:chExt cx="604087" cy="1827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4087" cy="182722"/>
            </a:xfrm>
            <a:custGeom>
              <a:avLst/>
              <a:gdLst/>
              <a:ahLst/>
              <a:cxnLst/>
              <a:rect r="r" b="b" t="t" l="l"/>
              <a:pathLst>
                <a:path h="182722" w="604087">
                  <a:moveTo>
                    <a:pt x="0" y="0"/>
                  </a:moveTo>
                  <a:lnTo>
                    <a:pt x="604087" y="0"/>
                  </a:lnTo>
                  <a:lnTo>
                    <a:pt x="604087" y="182722"/>
                  </a:lnTo>
                  <a:lnTo>
                    <a:pt x="0" y="182722"/>
                  </a:lnTo>
                  <a:close/>
                </a:path>
              </a:pathLst>
            </a:custGeom>
            <a:solidFill>
              <a:srgbClr val="EFF0F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604087" cy="211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  <a:r>
                <a:rPr lang="en-US" b="true" sz="2045">
                  <a:solidFill>
                    <a:srgbClr val="020BB5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MOG2/GMG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60522" y="6628135"/>
            <a:ext cx="7808565" cy="3343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9"/>
              </a:lnSpc>
              <a:spcBef>
                <a:spcPct val="0"/>
              </a:spcBef>
            </a:pPr>
            <a:r>
              <a:rPr lang="en-US" b="true" sz="280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C</a:t>
            </a:r>
            <a:r>
              <a:rPr lang="en-US" b="true" sz="280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OURSE:</a:t>
            </a:r>
            <a:r>
              <a:rPr lang="en-US" sz="280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CSE445</a:t>
            </a:r>
          </a:p>
          <a:p>
            <a:pPr algn="l">
              <a:lnSpc>
                <a:spcPts val="2919"/>
              </a:lnSpc>
              <a:spcBef>
                <a:spcPct val="0"/>
              </a:spcBef>
            </a:pPr>
            <a:r>
              <a:rPr lang="en-US" b="true" sz="280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PROJECT GROUP:</a:t>
            </a:r>
            <a:r>
              <a:rPr lang="en-US" sz="280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7</a:t>
            </a:r>
          </a:p>
          <a:p>
            <a:pPr algn="l">
              <a:lnSpc>
                <a:spcPts val="2919"/>
              </a:lnSpc>
              <a:spcBef>
                <a:spcPct val="0"/>
              </a:spcBef>
            </a:pPr>
            <a:r>
              <a:rPr lang="en-US" b="true" sz="280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TEAM MEMBERS:</a:t>
            </a:r>
          </a:p>
          <a:p>
            <a:pPr algn="l">
              <a:lnSpc>
                <a:spcPts val="2919"/>
              </a:lnSpc>
              <a:spcBef>
                <a:spcPct val="0"/>
              </a:spcBef>
            </a:pPr>
            <a:r>
              <a:rPr lang="en-US" sz="280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MD NAFIUL ALAM CHOWDHURY — 2231774642</a:t>
            </a:r>
          </a:p>
          <a:p>
            <a:pPr algn="l">
              <a:lnSpc>
                <a:spcPts val="2919"/>
              </a:lnSpc>
              <a:spcBef>
                <a:spcPct val="0"/>
              </a:spcBef>
            </a:pPr>
            <a:r>
              <a:rPr lang="en-US" sz="280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FAHAD HOSSAIN SHOUROV — 2233219642</a:t>
            </a:r>
          </a:p>
          <a:p>
            <a:pPr algn="l">
              <a:lnSpc>
                <a:spcPts val="2919"/>
              </a:lnSpc>
              <a:spcBef>
                <a:spcPct val="0"/>
              </a:spcBef>
            </a:pPr>
            <a:r>
              <a:rPr lang="en-US" sz="280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FARHANA RAHMAN —2233151042</a:t>
            </a:r>
          </a:p>
          <a:p>
            <a:pPr algn="l">
              <a:lnSpc>
                <a:spcPts val="2919"/>
              </a:lnSpc>
              <a:spcBef>
                <a:spcPct val="0"/>
              </a:spcBef>
            </a:pPr>
            <a:r>
              <a:rPr lang="en-US" sz="280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MD SHADMAN SHIHAB — 2231639642</a:t>
            </a:r>
          </a:p>
          <a:p>
            <a:pPr algn="l">
              <a:lnSpc>
                <a:spcPts val="2919"/>
              </a:lnSpc>
              <a:spcBef>
                <a:spcPct val="0"/>
              </a:spcBef>
            </a:pPr>
          </a:p>
          <a:p>
            <a:pPr algn="l">
              <a:lnSpc>
                <a:spcPts val="291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190396" y="983113"/>
            <a:ext cx="8315548" cy="956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  <a:spcBef>
                <a:spcPct val="0"/>
              </a:spcBef>
            </a:pPr>
            <a:r>
              <a:rPr lang="en-US" b="true" sz="3184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RE</a:t>
            </a:r>
            <a:r>
              <a:rPr lang="en-US" b="true" sz="3184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AL-WORLD TRADITIONAL ML</a:t>
            </a:r>
          </a:p>
          <a:p>
            <a:pPr algn="ctr">
              <a:lnSpc>
                <a:spcPts val="3312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152931" y="1756451"/>
            <a:ext cx="239047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020BB5"/>
                </a:solidFill>
                <a:latin typeface="Agrandir Bold"/>
                <a:ea typeface="Agrandir Bold"/>
                <a:cs typeface="Agrandir Bold"/>
                <a:sym typeface="Agrandir Bold"/>
              </a:rPr>
              <a:t>OBJECT TRACKER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90396" y="3002078"/>
            <a:ext cx="8144768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CLASSICAL COMPUTER VISION  • WORKS ON CUSTOM VIDEOS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826770" y="3902212"/>
            <a:ext cx="2727251" cy="693771"/>
            <a:chOff x="0" y="0"/>
            <a:chExt cx="718288" cy="1827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8288" cy="182722"/>
            </a:xfrm>
            <a:custGeom>
              <a:avLst/>
              <a:gdLst/>
              <a:ahLst/>
              <a:cxnLst/>
              <a:rect r="r" b="b" t="t" l="l"/>
              <a:pathLst>
                <a:path h="182722" w="718288">
                  <a:moveTo>
                    <a:pt x="0" y="0"/>
                  </a:moveTo>
                  <a:lnTo>
                    <a:pt x="718288" y="0"/>
                  </a:lnTo>
                  <a:lnTo>
                    <a:pt x="718288" y="182722"/>
                  </a:lnTo>
                  <a:lnTo>
                    <a:pt x="0" y="182722"/>
                  </a:lnTo>
                  <a:close/>
                </a:path>
              </a:pathLst>
            </a:custGeom>
            <a:solidFill>
              <a:srgbClr val="EFF0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718288" cy="211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  <a:r>
                <a:rPr lang="en-US" b="true" sz="2045">
                  <a:solidFill>
                    <a:srgbClr val="020BB5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KALMAN FILTER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49296" y="3902212"/>
            <a:ext cx="3489806" cy="693771"/>
            <a:chOff x="0" y="0"/>
            <a:chExt cx="919126" cy="1827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9126" cy="182722"/>
            </a:xfrm>
            <a:custGeom>
              <a:avLst/>
              <a:gdLst/>
              <a:ahLst/>
              <a:cxnLst/>
              <a:rect r="r" b="b" t="t" l="l"/>
              <a:pathLst>
                <a:path h="182722" w="919126">
                  <a:moveTo>
                    <a:pt x="0" y="0"/>
                  </a:moveTo>
                  <a:lnTo>
                    <a:pt x="919126" y="0"/>
                  </a:lnTo>
                  <a:lnTo>
                    <a:pt x="919126" y="182722"/>
                  </a:lnTo>
                  <a:lnTo>
                    <a:pt x="0" y="182722"/>
                  </a:lnTo>
                  <a:close/>
                </a:path>
              </a:pathLst>
            </a:custGeom>
            <a:solidFill>
              <a:srgbClr val="EFF0F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19126" cy="211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  <a:r>
                <a:rPr lang="en-US" b="true" sz="2045">
                  <a:solidFill>
                    <a:srgbClr val="020BB5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HUNGARIAN ALGORITHM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769997" y="3902212"/>
            <a:ext cx="1919840" cy="693771"/>
            <a:chOff x="0" y="0"/>
            <a:chExt cx="505637" cy="1827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5637" cy="182722"/>
            </a:xfrm>
            <a:custGeom>
              <a:avLst/>
              <a:gdLst/>
              <a:ahLst/>
              <a:cxnLst/>
              <a:rect r="r" b="b" t="t" l="l"/>
              <a:pathLst>
                <a:path h="182722" w="505637">
                  <a:moveTo>
                    <a:pt x="0" y="0"/>
                  </a:moveTo>
                  <a:lnTo>
                    <a:pt x="505637" y="0"/>
                  </a:lnTo>
                  <a:lnTo>
                    <a:pt x="505637" y="182722"/>
                  </a:lnTo>
                  <a:lnTo>
                    <a:pt x="0" y="182722"/>
                  </a:lnTo>
                  <a:close/>
                </a:path>
              </a:pathLst>
            </a:custGeom>
            <a:solidFill>
              <a:srgbClr val="EFF0F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505637" cy="211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  <a:r>
                <a:rPr lang="en-US" b="true" sz="2045">
                  <a:solidFill>
                    <a:srgbClr val="020BB5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HSV RE-ID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136030" y="3902212"/>
            <a:ext cx="1919840" cy="693771"/>
            <a:chOff x="0" y="0"/>
            <a:chExt cx="505637" cy="1827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5637" cy="182722"/>
            </a:xfrm>
            <a:custGeom>
              <a:avLst/>
              <a:gdLst/>
              <a:ahLst/>
              <a:cxnLst/>
              <a:rect r="r" b="b" t="t" l="l"/>
              <a:pathLst>
                <a:path h="182722" w="505637">
                  <a:moveTo>
                    <a:pt x="0" y="0"/>
                  </a:moveTo>
                  <a:lnTo>
                    <a:pt x="505637" y="0"/>
                  </a:lnTo>
                  <a:lnTo>
                    <a:pt x="505637" y="182722"/>
                  </a:lnTo>
                  <a:lnTo>
                    <a:pt x="0" y="182722"/>
                  </a:lnTo>
                  <a:close/>
                </a:path>
              </a:pathLst>
            </a:custGeom>
            <a:solidFill>
              <a:srgbClr val="EFF0F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505637" cy="211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  <a:r>
                <a:rPr lang="en-US" b="true" sz="2045">
                  <a:solidFill>
                    <a:srgbClr val="020BB5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YOLOV8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351145" y="3902212"/>
            <a:ext cx="2488018" cy="693771"/>
            <a:chOff x="0" y="0"/>
            <a:chExt cx="655280" cy="18272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5280" cy="182722"/>
            </a:xfrm>
            <a:custGeom>
              <a:avLst/>
              <a:gdLst/>
              <a:ahLst/>
              <a:cxnLst/>
              <a:rect r="r" b="b" t="t" l="l"/>
              <a:pathLst>
                <a:path h="182722" w="655280">
                  <a:moveTo>
                    <a:pt x="0" y="0"/>
                  </a:moveTo>
                  <a:lnTo>
                    <a:pt x="655280" y="0"/>
                  </a:lnTo>
                  <a:lnTo>
                    <a:pt x="655280" y="182722"/>
                  </a:lnTo>
                  <a:lnTo>
                    <a:pt x="0" y="182722"/>
                  </a:lnTo>
                  <a:close/>
                </a:path>
              </a:pathLst>
            </a:custGeom>
            <a:solidFill>
              <a:srgbClr val="EFF0F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655280" cy="211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  <a:r>
                <a:rPr lang="en-US" b="true" sz="2045">
                  <a:solidFill>
                    <a:srgbClr val="020BB5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GRID SEARCH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8759" y="2855149"/>
            <a:ext cx="4516221" cy="989754"/>
            <a:chOff x="0" y="0"/>
            <a:chExt cx="1108760" cy="2429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8760" cy="242991"/>
            </a:xfrm>
            <a:custGeom>
              <a:avLst/>
              <a:gdLst/>
              <a:ahLst/>
              <a:cxnLst/>
              <a:rect r="r" b="b" t="t" l="l"/>
              <a:pathLst>
                <a:path h="242991" w="1108760">
                  <a:moveTo>
                    <a:pt x="121495" y="0"/>
                  </a:moveTo>
                  <a:lnTo>
                    <a:pt x="987264" y="0"/>
                  </a:lnTo>
                  <a:cubicBezTo>
                    <a:pt x="1019487" y="0"/>
                    <a:pt x="1050390" y="12800"/>
                    <a:pt x="1073175" y="35585"/>
                  </a:cubicBezTo>
                  <a:cubicBezTo>
                    <a:pt x="1095959" y="58370"/>
                    <a:pt x="1108760" y="89273"/>
                    <a:pt x="1108760" y="121495"/>
                  </a:cubicBezTo>
                  <a:lnTo>
                    <a:pt x="1108760" y="121495"/>
                  </a:lnTo>
                  <a:cubicBezTo>
                    <a:pt x="1108760" y="153718"/>
                    <a:pt x="1095959" y="184621"/>
                    <a:pt x="1073175" y="207406"/>
                  </a:cubicBezTo>
                  <a:cubicBezTo>
                    <a:pt x="1050390" y="230190"/>
                    <a:pt x="1019487" y="242991"/>
                    <a:pt x="987264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108760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8759" y="2855149"/>
            <a:ext cx="1081897" cy="989754"/>
            <a:chOff x="0" y="0"/>
            <a:chExt cx="265612" cy="2429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88759" y="4315542"/>
            <a:ext cx="4516221" cy="989754"/>
            <a:chOff x="0" y="0"/>
            <a:chExt cx="1108760" cy="2429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8760" cy="242991"/>
            </a:xfrm>
            <a:custGeom>
              <a:avLst/>
              <a:gdLst/>
              <a:ahLst/>
              <a:cxnLst/>
              <a:rect r="r" b="b" t="t" l="l"/>
              <a:pathLst>
                <a:path h="242991" w="1108760">
                  <a:moveTo>
                    <a:pt x="121495" y="0"/>
                  </a:moveTo>
                  <a:lnTo>
                    <a:pt x="987264" y="0"/>
                  </a:lnTo>
                  <a:cubicBezTo>
                    <a:pt x="1019487" y="0"/>
                    <a:pt x="1050390" y="12800"/>
                    <a:pt x="1073175" y="35585"/>
                  </a:cubicBezTo>
                  <a:cubicBezTo>
                    <a:pt x="1095959" y="58370"/>
                    <a:pt x="1108760" y="89273"/>
                    <a:pt x="1108760" y="121495"/>
                  </a:cubicBezTo>
                  <a:lnTo>
                    <a:pt x="1108760" y="121495"/>
                  </a:lnTo>
                  <a:cubicBezTo>
                    <a:pt x="1108760" y="153718"/>
                    <a:pt x="1095959" y="184621"/>
                    <a:pt x="1073175" y="207406"/>
                  </a:cubicBezTo>
                  <a:cubicBezTo>
                    <a:pt x="1050390" y="230190"/>
                    <a:pt x="1019487" y="242991"/>
                    <a:pt x="987264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108760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88759" y="4315542"/>
            <a:ext cx="1081897" cy="989754"/>
            <a:chOff x="0" y="0"/>
            <a:chExt cx="265612" cy="2429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561003" y="2855149"/>
            <a:ext cx="4636648" cy="989754"/>
            <a:chOff x="0" y="0"/>
            <a:chExt cx="1138325" cy="2429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8325" cy="242991"/>
            </a:xfrm>
            <a:custGeom>
              <a:avLst/>
              <a:gdLst/>
              <a:ahLst/>
              <a:cxnLst/>
              <a:rect r="r" b="b" t="t" l="l"/>
              <a:pathLst>
                <a:path h="242991" w="1138325">
                  <a:moveTo>
                    <a:pt x="121495" y="0"/>
                  </a:moveTo>
                  <a:lnTo>
                    <a:pt x="1016830" y="0"/>
                  </a:lnTo>
                  <a:cubicBezTo>
                    <a:pt x="1049053" y="0"/>
                    <a:pt x="1079955" y="12800"/>
                    <a:pt x="1102740" y="35585"/>
                  </a:cubicBezTo>
                  <a:cubicBezTo>
                    <a:pt x="1125525" y="58370"/>
                    <a:pt x="1138325" y="89273"/>
                    <a:pt x="1138325" y="121495"/>
                  </a:cubicBezTo>
                  <a:lnTo>
                    <a:pt x="1138325" y="121495"/>
                  </a:lnTo>
                  <a:cubicBezTo>
                    <a:pt x="1138325" y="153718"/>
                    <a:pt x="1125525" y="184621"/>
                    <a:pt x="1102740" y="207406"/>
                  </a:cubicBezTo>
                  <a:cubicBezTo>
                    <a:pt x="1079955" y="230190"/>
                    <a:pt x="1049053" y="242991"/>
                    <a:pt x="1016830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138325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276455" y="2855149"/>
            <a:ext cx="1081897" cy="989754"/>
            <a:chOff x="0" y="0"/>
            <a:chExt cx="265612" cy="2429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561003" y="4315542"/>
            <a:ext cx="4636648" cy="989754"/>
            <a:chOff x="0" y="0"/>
            <a:chExt cx="1138325" cy="2429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8325" cy="242991"/>
            </a:xfrm>
            <a:custGeom>
              <a:avLst/>
              <a:gdLst/>
              <a:ahLst/>
              <a:cxnLst/>
              <a:rect r="r" b="b" t="t" l="l"/>
              <a:pathLst>
                <a:path h="242991" w="1138325">
                  <a:moveTo>
                    <a:pt x="121495" y="0"/>
                  </a:moveTo>
                  <a:lnTo>
                    <a:pt x="1016830" y="0"/>
                  </a:lnTo>
                  <a:cubicBezTo>
                    <a:pt x="1049053" y="0"/>
                    <a:pt x="1079955" y="12800"/>
                    <a:pt x="1102740" y="35585"/>
                  </a:cubicBezTo>
                  <a:cubicBezTo>
                    <a:pt x="1125525" y="58370"/>
                    <a:pt x="1138325" y="89273"/>
                    <a:pt x="1138325" y="121495"/>
                  </a:cubicBezTo>
                  <a:lnTo>
                    <a:pt x="1138325" y="121495"/>
                  </a:lnTo>
                  <a:cubicBezTo>
                    <a:pt x="1138325" y="153718"/>
                    <a:pt x="1125525" y="184621"/>
                    <a:pt x="1102740" y="207406"/>
                  </a:cubicBezTo>
                  <a:cubicBezTo>
                    <a:pt x="1079955" y="230190"/>
                    <a:pt x="1049053" y="242991"/>
                    <a:pt x="1016830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138325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276455" y="4315542"/>
            <a:ext cx="1081897" cy="989754"/>
            <a:chOff x="0" y="0"/>
            <a:chExt cx="265612" cy="2429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5095031" y="6536711"/>
            <a:ext cx="3192969" cy="3899810"/>
          </a:xfrm>
          <a:custGeom>
            <a:avLst/>
            <a:gdLst/>
            <a:ahLst/>
            <a:cxnLst/>
            <a:rect r="r" b="b" t="t" l="l"/>
            <a:pathLst>
              <a:path h="3899810" w="3192969">
                <a:moveTo>
                  <a:pt x="0" y="0"/>
                </a:moveTo>
                <a:lnTo>
                  <a:pt x="3192969" y="0"/>
                </a:lnTo>
                <a:lnTo>
                  <a:pt x="3192969" y="3899810"/>
                </a:lnTo>
                <a:lnTo>
                  <a:pt x="0" y="3899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88759" y="609559"/>
            <a:ext cx="9070970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PROBLEM STATEMENT: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44066" y="2967486"/>
            <a:ext cx="2173187" cy="781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Autonomous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vehicles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3307" y="3030301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01.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44066" y="4407534"/>
            <a:ext cx="2173187" cy="813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Spo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rts analytics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3307" y="4490694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02.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43211" y="2926639"/>
            <a:ext cx="2777801" cy="813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Surv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eillance systems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561003" y="3030301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03.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626671" y="4589072"/>
            <a:ext cx="2173187" cy="414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obotics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561003" y="4490694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04.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88759" y="1718026"/>
            <a:ext cx="14706272" cy="78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1"/>
              </a:lnSpc>
            </a:pPr>
            <a:r>
              <a:rPr lang="en-US" b="true" sz="20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WHY OBJECT T</a:t>
            </a:r>
            <a:r>
              <a:rPr lang="en-US" b="true" sz="20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RACKING MATTERS?</a:t>
            </a:r>
          </a:p>
          <a:p>
            <a:pPr algn="l">
              <a:lnSpc>
                <a:spcPts val="2126"/>
              </a:lnSpc>
              <a:spcBef>
                <a:spcPct val="0"/>
              </a:spcBef>
            </a:pPr>
            <a:r>
              <a:rPr lang="en-US" sz="204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OBJECT TRACKING IDENTIFIES AND FOLLOWS MOVING OBJECTS ACROSS VIDEO FRAMES.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854876" y="2841982"/>
            <a:ext cx="4636648" cy="989754"/>
            <a:chOff x="0" y="0"/>
            <a:chExt cx="1138325" cy="2429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38325" cy="242991"/>
            </a:xfrm>
            <a:custGeom>
              <a:avLst/>
              <a:gdLst/>
              <a:ahLst/>
              <a:cxnLst/>
              <a:rect r="r" b="b" t="t" l="l"/>
              <a:pathLst>
                <a:path h="242991" w="1138325">
                  <a:moveTo>
                    <a:pt x="121495" y="0"/>
                  </a:moveTo>
                  <a:lnTo>
                    <a:pt x="1016830" y="0"/>
                  </a:lnTo>
                  <a:cubicBezTo>
                    <a:pt x="1049053" y="0"/>
                    <a:pt x="1079955" y="12800"/>
                    <a:pt x="1102740" y="35585"/>
                  </a:cubicBezTo>
                  <a:cubicBezTo>
                    <a:pt x="1125525" y="58370"/>
                    <a:pt x="1138325" y="89273"/>
                    <a:pt x="1138325" y="121495"/>
                  </a:cubicBezTo>
                  <a:lnTo>
                    <a:pt x="1138325" y="121495"/>
                  </a:lnTo>
                  <a:cubicBezTo>
                    <a:pt x="1138325" y="153718"/>
                    <a:pt x="1125525" y="184621"/>
                    <a:pt x="1102740" y="207406"/>
                  </a:cubicBezTo>
                  <a:cubicBezTo>
                    <a:pt x="1079955" y="230190"/>
                    <a:pt x="1049053" y="242991"/>
                    <a:pt x="1016830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1138325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854876" y="2855149"/>
            <a:ext cx="1081897" cy="989754"/>
            <a:chOff x="0" y="0"/>
            <a:chExt cx="265612" cy="2429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1086865" y="3042060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05.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029365" y="3087451"/>
            <a:ext cx="2777801" cy="44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edical imaging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388759" y="6841927"/>
            <a:ext cx="4214209" cy="923567"/>
            <a:chOff x="0" y="0"/>
            <a:chExt cx="1108760" cy="24299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08760" cy="242991"/>
            </a:xfrm>
            <a:custGeom>
              <a:avLst/>
              <a:gdLst/>
              <a:ahLst/>
              <a:cxnLst/>
              <a:rect r="r" b="b" t="t" l="l"/>
              <a:pathLst>
                <a:path h="242991" w="1108760">
                  <a:moveTo>
                    <a:pt x="121495" y="0"/>
                  </a:moveTo>
                  <a:lnTo>
                    <a:pt x="987264" y="0"/>
                  </a:lnTo>
                  <a:cubicBezTo>
                    <a:pt x="1019487" y="0"/>
                    <a:pt x="1050390" y="12800"/>
                    <a:pt x="1073175" y="35585"/>
                  </a:cubicBezTo>
                  <a:cubicBezTo>
                    <a:pt x="1095959" y="58370"/>
                    <a:pt x="1108760" y="89273"/>
                    <a:pt x="1108760" y="121495"/>
                  </a:cubicBezTo>
                  <a:lnTo>
                    <a:pt x="1108760" y="121495"/>
                  </a:lnTo>
                  <a:cubicBezTo>
                    <a:pt x="1108760" y="153718"/>
                    <a:pt x="1095959" y="184621"/>
                    <a:pt x="1073175" y="207406"/>
                  </a:cubicBezTo>
                  <a:cubicBezTo>
                    <a:pt x="1050390" y="230190"/>
                    <a:pt x="1019487" y="242991"/>
                    <a:pt x="987264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108760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388759" y="6841927"/>
            <a:ext cx="1009548" cy="923567"/>
            <a:chOff x="0" y="0"/>
            <a:chExt cx="265612" cy="24299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380106" y="6871958"/>
            <a:ext cx="4214209" cy="923567"/>
            <a:chOff x="0" y="0"/>
            <a:chExt cx="1108760" cy="24299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08760" cy="242991"/>
            </a:xfrm>
            <a:custGeom>
              <a:avLst/>
              <a:gdLst/>
              <a:ahLst/>
              <a:cxnLst/>
              <a:rect r="r" b="b" t="t" l="l"/>
              <a:pathLst>
                <a:path h="242991" w="1108760">
                  <a:moveTo>
                    <a:pt x="121495" y="0"/>
                  </a:moveTo>
                  <a:lnTo>
                    <a:pt x="987264" y="0"/>
                  </a:lnTo>
                  <a:cubicBezTo>
                    <a:pt x="1019487" y="0"/>
                    <a:pt x="1050390" y="12800"/>
                    <a:pt x="1073175" y="35585"/>
                  </a:cubicBezTo>
                  <a:cubicBezTo>
                    <a:pt x="1095959" y="58370"/>
                    <a:pt x="1108760" y="89273"/>
                    <a:pt x="1108760" y="121495"/>
                  </a:cubicBezTo>
                  <a:lnTo>
                    <a:pt x="1108760" y="121495"/>
                  </a:lnTo>
                  <a:cubicBezTo>
                    <a:pt x="1108760" y="153718"/>
                    <a:pt x="1095959" y="184621"/>
                    <a:pt x="1073175" y="207406"/>
                  </a:cubicBezTo>
                  <a:cubicBezTo>
                    <a:pt x="1050390" y="230190"/>
                    <a:pt x="1019487" y="242991"/>
                    <a:pt x="987264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1108760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380106" y="6871958"/>
            <a:ext cx="1009548" cy="923567"/>
            <a:chOff x="0" y="0"/>
            <a:chExt cx="265612" cy="24299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24607" y="8204660"/>
            <a:ext cx="3880113" cy="923567"/>
            <a:chOff x="0" y="0"/>
            <a:chExt cx="1020859" cy="24299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20859" cy="242991"/>
            </a:xfrm>
            <a:custGeom>
              <a:avLst/>
              <a:gdLst/>
              <a:ahLst/>
              <a:cxnLst/>
              <a:rect r="r" b="b" t="t" l="l"/>
              <a:pathLst>
                <a:path h="242991" w="1020859">
                  <a:moveTo>
                    <a:pt x="121495" y="0"/>
                  </a:moveTo>
                  <a:lnTo>
                    <a:pt x="899364" y="0"/>
                  </a:lnTo>
                  <a:cubicBezTo>
                    <a:pt x="931586" y="0"/>
                    <a:pt x="962489" y="12800"/>
                    <a:pt x="985274" y="35585"/>
                  </a:cubicBezTo>
                  <a:cubicBezTo>
                    <a:pt x="1008059" y="58370"/>
                    <a:pt x="1020859" y="89273"/>
                    <a:pt x="1020859" y="121495"/>
                  </a:cubicBezTo>
                  <a:lnTo>
                    <a:pt x="1020859" y="121495"/>
                  </a:lnTo>
                  <a:cubicBezTo>
                    <a:pt x="1020859" y="153718"/>
                    <a:pt x="1008059" y="184621"/>
                    <a:pt x="985274" y="207406"/>
                  </a:cubicBezTo>
                  <a:cubicBezTo>
                    <a:pt x="962489" y="230190"/>
                    <a:pt x="931586" y="242991"/>
                    <a:pt x="899364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1020859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401193" y="8204660"/>
            <a:ext cx="1009548" cy="923567"/>
            <a:chOff x="0" y="0"/>
            <a:chExt cx="265612" cy="24299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549973" y="8206947"/>
            <a:ext cx="4326583" cy="923567"/>
            <a:chOff x="0" y="0"/>
            <a:chExt cx="1138325" cy="24299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38325" cy="242991"/>
            </a:xfrm>
            <a:custGeom>
              <a:avLst/>
              <a:gdLst/>
              <a:ahLst/>
              <a:cxnLst/>
              <a:rect r="r" b="b" t="t" l="l"/>
              <a:pathLst>
                <a:path h="242991" w="1138325">
                  <a:moveTo>
                    <a:pt x="121495" y="0"/>
                  </a:moveTo>
                  <a:lnTo>
                    <a:pt x="1016830" y="0"/>
                  </a:lnTo>
                  <a:cubicBezTo>
                    <a:pt x="1049053" y="0"/>
                    <a:pt x="1079955" y="12800"/>
                    <a:pt x="1102740" y="35585"/>
                  </a:cubicBezTo>
                  <a:cubicBezTo>
                    <a:pt x="1125525" y="58370"/>
                    <a:pt x="1138325" y="89273"/>
                    <a:pt x="1138325" y="121495"/>
                  </a:cubicBezTo>
                  <a:lnTo>
                    <a:pt x="1138325" y="121495"/>
                  </a:lnTo>
                  <a:cubicBezTo>
                    <a:pt x="1138325" y="153718"/>
                    <a:pt x="1125525" y="184621"/>
                    <a:pt x="1102740" y="207406"/>
                  </a:cubicBezTo>
                  <a:cubicBezTo>
                    <a:pt x="1079955" y="230190"/>
                    <a:pt x="1049053" y="242991"/>
                    <a:pt x="1016830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138325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5284453" y="8206947"/>
            <a:ext cx="1009548" cy="923567"/>
            <a:chOff x="0" y="0"/>
            <a:chExt cx="265612" cy="24299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746745" y="6934042"/>
            <a:ext cx="2027860" cy="742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239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Cam</a:t>
            </a:r>
            <a:r>
              <a:rPr lang="en-US" sz="239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era motion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54279" y="7007248"/>
            <a:ext cx="744028" cy="48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3"/>
              </a:lnSpc>
            </a:pPr>
            <a:r>
              <a:rPr lang="en-US" sz="257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01.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6738093" y="6944451"/>
            <a:ext cx="2725468" cy="77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9"/>
              </a:lnSpc>
            </a:pPr>
            <a:r>
              <a:rPr lang="en-US" sz="239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Va</a:t>
            </a:r>
            <a:r>
              <a:rPr lang="en-US" sz="239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rying lighting conditions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5645626" y="7037279"/>
            <a:ext cx="744028" cy="48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3"/>
              </a:lnSpc>
            </a:pPr>
            <a:r>
              <a:rPr lang="en-US" sz="257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02.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676551" y="8258023"/>
            <a:ext cx="2592042" cy="77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9"/>
              </a:lnSpc>
            </a:pPr>
            <a:r>
              <a:rPr lang="en-US" sz="239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Clutter</a:t>
            </a:r>
            <a:r>
              <a:rPr lang="en-US" sz="239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ed backgrounds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666713" y="8369980"/>
            <a:ext cx="744028" cy="48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3"/>
              </a:lnSpc>
            </a:pPr>
            <a:r>
              <a:rPr lang="en-US" sz="257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03.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6560642" y="8295208"/>
            <a:ext cx="2027860" cy="70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239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Fast-moving </a:t>
            </a:r>
            <a:r>
              <a:rPr lang="en-US" sz="239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objects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549973" y="8372267"/>
            <a:ext cx="744028" cy="48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3"/>
              </a:lnSpc>
            </a:pPr>
            <a:r>
              <a:rPr lang="en-US" sz="257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04.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388759" y="5772021"/>
            <a:ext cx="13722823" cy="55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  <a:spcBef>
                <a:spcPct val="0"/>
              </a:spcBef>
            </a:pPr>
          </a:p>
          <a:p>
            <a:pPr algn="l">
              <a:lnSpc>
                <a:spcPts val="1984"/>
              </a:lnSpc>
              <a:spcBef>
                <a:spcPct val="0"/>
              </a:spcBef>
            </a:pPr>
            <a:r>
              <a:rPr lang="en-US" b="true" sz="190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TRACKING BECOMES DIFFICULT DUE TO: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5470" y="7666063"/>
            <a:ext cx="2347925" cy="2360802"/>
          </a:xfrm>
          <a:custGeom>
            <a:avLst/>
            <a:gdLst/>
            <a:ahLst/>
            <a:cxnLst/>
            <a:rect r="r" b="b" t="t" l="l"/>
            <a:pathLst>
              <a:path h="2360802" w="2347925">
                <a:moveTo>
                  <a:pt x="0" y="0"/>
                </a:moveTo>
                <a:lnTo>
                  <a:pt x="2347926" y="0"/>
                </a:lnTo>
                <a:lnTo>
                  <a:pt x="2347926" y="2360803"/>
                </a:lnTo>
                <a:lnTo>
                  <a:pt x="0" y="23608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20795" y="338709"/>
            <a:ext cx="2373361" cy="2621182"/>
          </a:xfrm>
          <a:custGeom>
            <a:avLst/>
            <a:gdLst/>
            <a:ahLst/>
            <a:cxnLst/>
            <a:rect r="r" b="b" t="t" l="l"/>
            <a:pathLst>
              <a:path h="2621182" w="2373361">
                <a:moveTo>
                  <a:pt x="0" y="0"/>
                </a:moveTo>
                <a:lnTo>
                  <a:pt x="2373362" y="0"/>
                </a:lnTo>
                <a:lnTo>
                  <a:pt x="2373362" y="2621182"/>
                </a:lnTo>
                <a:lnTo>
                  <a:pt x="0" y="26211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7188" y="745749"/>
            <a:ext cx="9070970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PROJECT GOAL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581878" y="5607167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05.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7476" y="3919068"/>
            <a:ext cx="11214485" cy="198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3228" indent="-281614" lvl="1">
              <a:lnSpc>
                <a:spcPts val="5217"/>
              </a:lnSpc>
              <a:buFont typeface="Arial"/>
              <a:buChar char="•"/>
            </a:pPr>
            <a:r>
              <a:rPr lang="en-US" sz="260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WHICH ALGORITHM PERFORMS BEST IN EACH SCENARIO</a:t>
            </a:r>
          </a:p>
          <a:p>
            <a:pPr algn="l" marL="563228" indent="-281614" lvl="1">
              <a:lnSpc>
                <a:spcPts val="5217"/>
              </a:lnSpc>
              <a:buFont typeface="Arial"/>
              <a:buChar char="•"/>
            </a:pPr>
            <a:r>
              <a:rPr lang="en-US" sz="260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HOW SCENE CHARACTERISTICS AFFECT PERFORMANCE</a:t>
            </a:r>
          </a:p>
          <a:p>
            <a:pPr algn="l" marL="563228" indent="-281614" lvl="1">
              <a:lnSpc>
                <a:spcPts val="5217"/>
              </a:lnSpc>
              <a:buFont typeface="Arial"/>
              <a:buChar char="•"/>
            </a:pPr>
            <a:r>
              <a:rPr lang="en-US" sz="260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GUIDELINES FOR SELECTING THE RIGHT TRACKING METHOD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7188" y="2541876"/>
            <a:ext cx="10565759" cy="715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</a:t>
            </a:r>
            <a:r>
              <a:rPr lang="en-US" b="true" sz="24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 EVALUATE MULTIPLE MOTION TRACKING APPROACHES UNDER DIFFERENT SCENE CONDITIONS AND DETERMINE: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35657" y="309652"/>
            <a:ext cx="2347925" cy="2360802"/>
          </a:xfrm>
          <a:custGeom>
            <a:avLst/>
            <a:gdLst/>
            <a:ahLst/>
            <a:cxnLst/>
            <a:rect r="r" b="b" t="t" l="l"/>
            <a:pathLst>
              <a:path h="2360802" w="2347925">
                <a:moveTo>
                  <a:pt x="0" y="0"/>
                </a:moveTo>
                <a:lnTo>
                  <a:pt x="2347925" y="0"/>
                </a:lnTo>
                <a:lnTo>
                  <a:pt x="2347925" y="2360802"/>
                </a:lnTo>
                <a:lnTo>
                  <a:pt x="0" y="23608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7476" y="730797"/>
            <a:ext cx="9070970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PROPOSED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581878" y="5607167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05.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7476" y="2912567"/>
            <a:ext cx="11366896" cy="5341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8"/>
              </a:lnSpc>
            </a:pPr>
            <a:r>
              <a:rPr lang="en-US" sz="2644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WE BUILT A MODULAR MULTI-OBJECT TRACKING SYSTEM USING:</a:t>
            </a:r>
          </a:p>
          <a:p>
            <a:pPr algn="l" marL="570883" indent="-285441" lvl="1">
              <a:lnSpc>
                <a:spcPts val="5288"/>
              </a:lnSpc>
              <a:buFont typeface="Arial"/>
              <a:buChar char="•"/>
            </a:pPr>
            <a:r>
              <a:rPr lang="en-US" sz="2644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MOG2 (BACKGROUND SUBTRACTION)</a:t>
            </a:r>
          </a:p>
          <a:p>
            <a:pPr algn="l" marL="570883" indent="-285441" lvl="1">
              <a:lnSpc>
                <a:spcPts val="5288"/>
              </a:lnSpc>
              <a:buFont typeface="Arial"/>
              <a:buChar char="•"/>
            </a:pPr>
            <a:r>
              <a:rPr lang="en-US" sz="2644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GMG (BAYESIAN BACKGROUND MODEL)</a:t>
            </a:r>
          </a:p>
          <a:p>
            <a:pPr algn="l" marL="570883" indent="-285441" lvl="1">
              <a:lnSpc>
                <a:spcPts val="5288"/>
              </a:lnSpc>
              <a:buFont typeface="Arial"/>
              <a:buChar char="•"/>
            </a:pPr>
            <a:r>
              <a:rPr lang="en-US" sz="2644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YOLOV8 (DEEP-LEARNING DETECTOR)</a:t>
            </a:r>
          </a:p>
          <a:p>
            <a:pPr algn="l" marL="570883" indent="-285441" lvl="1">
              <a:lnSpc>
                <a:spcPts val="5288"/>
              </a:lnSpc>
              <a:buFont typeface="Arial"/>
              <a:buChar char="•"/>
            </a:pPr>
            <a:r>
              <a:rPr lang="en-US" sz="2644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KALMAN FILTER (STATE PREDICTION)</a:t>
            </a:r>
          </a:p>
          <a:p>
            <a:pPr algn="l" marL="570883" indent="-285441" lvl="1">
              <a:lnSpc>
                <a:spcPts val="5288"/>
              </a:lnSpc>
              <a:buFont typeface="Arial"/>
              <a:buChar char="•"/>
            </a:pPr>
            <a:r>
              <a:rPr lang="en-US" sz="2644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HUNGARIAN ALGORITHM (OBJECT ASSIGNMENT)</a:t>
            </a:r>
          </a:p>
          <a:p>
            <a:pPr algn="l" marL="570883" indent="-285441" lvl="1">
              <a:lnSpc>
                <a:spcPts val="5288"/>
              </a:lnSpc>
              <a:buFont typeface="Arial"/>
              <a:buChar char="•"/>
            </a:pPr>
            <a:r>
              <a:rPr lang="en-US" sz="2644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HSV HISTOGRAM RE-ID (IDENTITY RECOVERY)</a:t>
            </a:r>
          </a:p>
          <a:p>
            <a:pPr algn="l">
              <a:lnSpc>
                <a:spcPts val="528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27476" y="2244373"/>
            <a:ext cx="4183014" cy="1029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</a:t>
            </a:r>
            <a:r>
              <a:rPr lang="en-US" b="true" sz="24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UR TRACKING PIPELINE</a:t>
            </a:r>
          </a:p>
          <a:p>
            <a:pPr algn="l">
              <a:lnSpc>
                <a:spcPts val="2485"/>
              </a:lnSpc>
              <a:spcBef>
                <a:spcPct val="0"/>
              </a:spcBef>
            </a:pPr>
          </a:p>
          <a:p>
            <a:pPr algn="l">
              <a:lnSpc>
                <a:spcPts val="2485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134966" y="5238384"/>
            <a:ext cx="5048616" cy="5048616"/>
          </a:xfrm>
          <a:custGeom>
            <a:avLst/>
            <a:gdLst/>
            <a:ahLst/>
            <a:cxnLst/>
            <a:rect r="r" b="b" t="t" l="l"/>
            <a:pathLst>
              <a:path h="5048616" w="5048616">
                <a:moveTo>
                  <a:pt x="0" y="0"/>
                </a:moveTo>
                <a:lnTo>
                  <a:pt x="5048616" y="0"/>
                </a:lnTo>
                <a:lnTo>
                  <a:pt x="5048616" y="5048616"/>
                </a:lnTo>
                <a:lnTo>
                  <a:pt x="0" y="50486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169604" y="6661061"/>
            <a:ext cx="3355672" cy="176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MACHINE LEARNING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7476" y="3392860"/>
            <a:ext cx="11027107" cy="57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3818" indent="-276909" lvl="1">
              <a:lnSpc>
                <a:spcPts val="5130"/>
              </a:lnSpc>
              <a:buAutoNum type="arabicPeriod" startAt="1"/>
            </a:pPr>
            <a:r>
              <a:rPr lang="en-US" sz="256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VID</a:t>
            </a:r>
            <a:r>
              <a:rPr lang="en-US" sz="256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EO INPUT</a:t>
            </a:r>
          </a:p>
          <a:p>
            <a:pPr algn="l" marL="553818" indent="-276909" lvl="1">
              <a:lnSpc>
                <a:spcPts val="5130"/>
              </a:lnSpc>
              <a:buAutoNum type="arabicPeriod" startAt="1"/>
            </a:pPr>
            <a:r>
              <a:rPr lang="en-US" sz="256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CAMERA STABILIZATION</a:t>
            </a:r>
          </a:p>
          <a:p>
            <a:pPr algn="l" marL="553818" indent="-276909" lvl="1">
              <a:lnSpc>
                <a:spcPts val="5130"/>
              </a:lnSpc>
              <a:buAutoNum type="arabicPeriod" startAt="1"/>
            </a:pPr>
            <a:r>
              <a:rPr lang="en-US" sz="256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OBJECT DETECTION</a:t>
            </a:r>
          </a:p>
          <a:p>
            <a:pPr algn="l" marL="553818" indent="-276909" lvl="1">
              <a:lnSpc>
                <a:spcPts val="5130"/>
              </a:lnSpc>
              <a:buAutoNum type="arabicPeriod" startAt="1"/>
            </a:pPr>
            <a:r>
              <a:rPr lang="en-US" sz="256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WARMUP GUARD</a:t>
            </a:r>
          </a:p>
          <a:p>
            <a:pPr algn="l" marL="553818" indent="-276909" lvl="1">
              <a:lnSpc>
                <a:spcPts val="5130"/>
              </a:lnSpc>
              <a:buAutoNum type="arabicPeriod" startAt="1"/>
            </a:pPr>
            <a:r>
              <a:rPr lang="en-US" sz="256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TRACKING WITH KALMAN + HUNGARIAN</a:t>
            </a:r>
          </a:p>
          <a:p>
            <a:pPr algn="l" marL="553818" indent="-276909" lvl="1">
              <a:lnSpc>
                <a:spcPts val="5130"/>
              </a:lnSpc>
              <a:buAutoNum type="arabicPeriod" startAt="1"/>
            </a:pPr>
            <a:r>
              <a:rPr lang="en-US" sz="256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RE-IDENTIFICATION</a:t>
            </a:r>
          </a:p>
          <a:p>
            <a:pPr algn="l" marL="553818" indent="-276909" lvl="1">
              <a:lnSpc>
                <a:spcPts val="5130"/>
              </a:lnSpc>
              <a:buAutoNum type="arabicPeriod" startAt="1"/>
            </a:pPr>
            <a:r>
              <a:rPr lang="en-US" sz="256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EVALUATION &amp; OUTPUT</a:t>
            </a:r>
          </a:p>
          <a:p>
            <a:pPr algn="l">
              <a:lnSpc>
                <a:spcPts val="5130"/>
              </a:lnSpc>
            </a:pPr>
          </a:p>
          <a:p>
            <a:pPr algn="l">
              <a:lnSpc>
                <a:spcPts val="513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068782" y="592689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7476" y="730797"/>
            <a:ext cx="9070970" cy="262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SYSTEM WORKFLOW</a:t>
            </a:r>
          </a:p>
          <a:p>
            <a:pPr algn="l">
              <a:lnSpc>
                <a:spcPts val="6875"/>
              </a:lnSpc>
            </a:pPr>
          </a:p>
          <a:p>
            <a:pPr algn="l">
              <a:lnSpc>
                <a:spcPts val="6875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-581878" y="5607167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05.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1661" y="2269261"/>
            <a:ext cx="4900394" cy="401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END-TO-E</a:t>
            </a:r>
            <a:r>
              <a:rPr lang="en-US" b="true" sz="24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ND PIPELINE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438739" y="3469795"/>
            <a:ext cx="4144557" cy="989754"/>
            <a:chOff x="0" y="0"/>
            <a:chExt cx="1017514" cy="2429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894046" y="3635879"/>
            <a:ext cx="3399255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YOLOv8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5024948"/>
            <a:ext cx="5755381" cy="3642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0446" indent="-370223" lvl="1">
              <a:lnSpc>
                <a:spcPts val="5830"/>
              </a:lnSpc>
              <a:buFont typeface="Arial"/>
              <a:buChar char="•"/>
            </a:pPr>
            <a:r>
              <a:rPr lang="en-US" sz="3429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Fast and e</a:t>
            </a:r>
            <a:r>
              <a:rPr lang="en-US" sz="3429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fficient</a:t>
            </a:r>
          </a:p>
          <a:p>
            <a:pPr algn="l" marL="740446" indent="-370223" lvl="1">
              <a:lnSpc>
                <a:spcPts val="5830"/>
              </a:lnSpc>
              <a:buFont typeface="Arial"/>
              <a:buChar char="•"/>
            </a:pPr>
            <a:r>
              <a:rPr lang="en-US" sz="3429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Best for static cameras</a:t>
            </a:r>
          </a:p>
          <a:p>
            <a:pPr algn="l" marL="740446" indent="-370223" lvl="1">
              <a:lnSpc>
                <a:spcPts val="5830"/>
              </a:lnSpc>
              <a:buFont typeface="Arial"/>
              <a:buChar char="•"/>
            </a:pPr>
            <a:r>
              <a:rPr lang="en-US" sz="3429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Works well with clean backgrounds</a:t>
            </a:r>
          </a:p>
          <a:p>
            <a:pPr algn="l">
              <a:lnSpc>
                <a:spcPts val="4595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2438739" y="3469795"/>
            <a:ext cx="1081897" cy="989754"/>
            <a:chOff x="0" y="0"/>
            <a:chExt cx="265612" cy="242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723287" y="3644947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03.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7476" y="702222"/>
            <a:ext cx="6156352" cy="60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6"/>
              </a:lnSpc>
            </a:pPr>
            <a:r>
              <a:rPr lang="en-US" sz="4486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DETECTOR COMPARISON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7476" y="2181527"/>
            <a:ext cx="10104830" cy="401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DETECTION METHODS USED: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252612" y="3483731"/>
            <a:ext cx="4144557" cy="989754"/>
            <a:chOff x="0" y="0"/>
            <a:chExt cx="1017514" cy="2429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705983" y="3682345"/>
            <a:ext cx="3399255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GMG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94889" y="4876800"/>
            <a:ext cx="5755381" cy="4449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0446" indent="-370223" lvl="1">
              <a:lnSpc>
                <a:spcPts val="5830"/>
              </a:lnSpc>
              <a:buFont typeface="Arial"/>
              <a:buChar char="•"/>
            </a:pPr>
            <a:r>
              <a:rPr lang="en-US" sz="3429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High accura</a:t>
            </a:r>
            <a:r>
              <a:rPr lang="en-US" sz="3429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cy</a:t>
            </a:r>
          </a:p>
          <a:p>
            <a:pPr algn="l" marL="740446" indent="-370223" lvl="1">
              <a:lnSpc>
                <a:spcPts val="5830"/>
              </a:lnSpc>
              <a:buFont typeface="Arial"/>
              <a:buChar char="•"/>
            </a:pPr>
            <a:r>
              <a:rPr lang="en-US" sz="3429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Handles moving cameras &amp; multiple classes</a:t>
            </a:r>
          </a:p>
          <a:p>
            <a:pPr algn="l" marL="740446" indent="-370223" lvl="1">
              <a:lnSpc>
                <a:spcPts val="5830"/>
              </a:lnSpc>
              <a:buFont typeface="Arial"/>
              <a:buChar char="•"/>
            </a:pPr>
            <a:r>
              <a:rPr lang="en-US" sz="3429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Computationally expensive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252612" y="3483731"/>
            <a:ext cx="1081897" cy="989754"/>
            <a:chOff x="0" y="0"/>
            <a:chExt cx="265612" cy="2429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537160" y="3644947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02.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336909" y="3444643"/>
            <a:ext cx="4144557" cy="989754"/>
            <a:chOff x="0" y="0"/>
            <a:chExt cx="1017514" cy="2429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806024" y="3657194"/>
            <a:ext cx="3399255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MOG2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937364" y="4876800"/>
            <a:ext cx="5755381" cy="4375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0446" indent="-370223" lvl="1">
              <a:lnSpc>
                <a:spcPts val="5830"/>
              </a:lnSpc>
              <a:buFont typeface="Arial"/>
              <a:buChar char="•"/>
            </a:pPr>
            <a:r>
              <a:rPr lang="en-US" sz="3429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Sharper segm</a:t>
            </a:r>
            <a:r>
              <a:rPr lang="en-US" sz="3429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entation</a:t>
            </a:r>
          </a:p>
          <a:p>
            <a:pPr algn="l" marL="740446" indent="-370223" lvl="1">
              <a:lnSpc>
                <a:spcPts val="5830"/>
              </a:lnSpc>
              <a:buFont typeface="Arial"/>
              <a:buChar char="•"/>
            </a:pPr>
            <a:r>
              <a:rPr lang="en-US" sz="3429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Better for textured backgrounds</a:t>
            </a:r>
          </a:p>
          <a:p>
            <a:pPr algn="l" marL="740446" indent="-370223" lvl="1">
              <a:lnSpc>
                <a:spcPts val="5830"/>
              </a:lnSpc>
              <a:buFont typeface="Arial"/>
              <a:buChar char="•"/>
            </a:pPr>
            <a:r>
              <a:rPr lang="en-US" sz="3429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Requires warmup time</a:t>
            </a:r>
          </a:p>
          <a:p>
            <a:pPr algn="l">
              <a:lnSpc>
                <a:spcPts val="5830"/>
              </a:lnSpc>
            </a:pPr>
          </a:p>
          <a:p>
            <a:pPr algn="l">
              <a:lnSpc>
                <a:spcPts val="4595"/>
              </a:lnSpc>
            </a:pPr>
          </a:p>
        </p:txBody>
      </p:sp>
      <p:grpSp>
        <p:nvGrpSpPr>
          <p:cNvPr name="Group 28" id="28"/>
          <p:cNvGrpSpPr/>
          <p:nvPr/>
        </p:nvGrpSpPr>
        <p:grpSpPr>
          <a:xfrm rot="0">
            <a:off x="336909" y="3444643"/>
            <a:ext cx="1081897" cy="989754"/>
            <a:chOff x="0" y="0"/>
            <a:chExt cx="265612" cy="2429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21457" y="3619795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01.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38730" y="2773178"/>
            <a:ext cx="4144557" cy="989754"/>
            <a:chOff x="0" y="0"/>
            <a:chExt cx="1017514" cy="2429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30583" y="2773178"/>
            <a:ext cx="1081897" cy="989754"/>
            <a:chOff x="0" y="0"/>
            <a:chExt cx="265612" cy="2429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06378" y="5409578"/>
            <a:ext cx="4548263" cy="989754"/>
            <a:chOff x="0" y="0"/>
            <a:chExt cx="1116626" cy="2429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6626" cy="242991"/>
            </a:xfrm>
            <a:custGeom>
              <a:avLst/>
              <a:gdLst/>
              <a:ahLst/>
              <a:cxnLst/>
              <a:rect r="r" b="b" t="t" l="l"/>
              <a:pathLst>
                <a:path h="242991" w="1116626">
                  <a:moveTo>
                    <a:pt x="121495" y="0"/>
                  </a:moveTo>
                  <a:lnTo>
                    <a:pt x="995131" y="0"/>
                  </a:lnTo>
                  <a:cubicBezTo>
                    <a:pt x="1062231" y="0"/>
                    <a:pt x="1116626" y="54395"/>
                    <a:pt x="1116626" y="121495"/>
                  </a:cubicBezTo>
                  <a:lnTo>
                    <a:pt x="1116626" y="121495"/>
                  </a:lnTo>
                  <a:cubicBezTo>
                    <a:pt x="1116626" y="153718"/>
                    <a:pt x="1103826" y="184621"/>
                    <a:pt x="1081041" y="207406"/>
                  </a:cubicBezTo>
                  <a:cubicBezTo>
                    <a:pt x="1058256" y="230190"/>
                    <a:pt x="1027353" y="242991"/>
                    <a:pt x="995131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116626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23313" y="5409578"/>
            <a:ext cx="1081897" cy="989754"/>
            <a:chOff x="0" y="0"/>
            <a:chExt cx="265612" cy="2429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675223" y="2750286"/>
            <a:ext cx="4144557" cy="989754"/>
            <a:chOff x="0" y="0"/>
            <a:chExt cx="1017514" cy="2429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675223" y="2750286"/>
            <a:ext cx="1081897" cy="989754"/>
            <a:chOff x="0" y="0"/>
            <a:chExt cx="265612" cy="2429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5178115" y="191433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33082" y="1847640"/>
            <a:ext cx="5797159" cy="401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6"/>
              </a:lnSpc>
              <a:spcBef>
                <a:spcPct val="0"/>
              </a:spcBef>
            </a:pPr>
            <a:r>
              <a:rPr lang="en-US" b="true" sz="2400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CO</a:t>
            </a:r>
            <a:r>
              <a:rPr lang="en-US" b="true" sz="2400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RE TRACKING TECHNIQUES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5267" y="550206"/>
            <a:ext cx="10447093" cy="89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TRACKING &amp; RE-IDENTIFICATION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74118" y="2957856"/>
            <a:ext cx="2173187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K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alman Filter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38730" y="4126487"/>
            <a:ext cx="6354200" cy="107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6358" indent="-223179" lvl="1">
              <a:lnSpc>
                <a:spcPts val="2770"/>
              </a:lnSpc>
              <a:buFont typeface="Arial"/>
              <a:buChar char="•"/>
            </a:pP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Predicts object movement across frames</a:t>
            </a:r>
          </a:p>
          <a:p>
            <a:pPr algn="l" marL="446358" indent="-223179" lvl="1">
              <a:lnSpc>
                <a:spcPts val="2770"/>
              </a:lnSpc>
              <a:buFont typeface="Arial"/>
              <a:buChar char="•"/>
            </a:pP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H</a:t>
            </a: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andles temporary detection loss</a:t>
            </a:r>
          </a:p>
          <a:p>
            <a:pPr algn="l">
              <a:lnSpc>
                <a:spcPts val="277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615131" y="2948331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01.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05210" y="5693527"/>
            <a:ext cx="3354399" cy="78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Hun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garian Algorithm</a:t>
            </a:r>
          </a:p>
          <a:p>
            <a:pPr algn="l">
              <a:lnSpc>
                <a:spcPts val="2824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244162" y="6783409"/>
            <a:ext cx="5233100" cy="142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6358" indent="-223179" lvl="1">
              <a:lnSpc>
                <a:spcPts val="2770"/>
              </a:lnSpc>
              <a:buFont typeface="Arial"/>
              <a:buChar char="•"/>
            </a:pP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Matches detection</a:t>
            </a: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 to predicted tracks</a:t>
            </a:r>
          </a:p>
          <a:p>
            <a:pPr algn="l" marL="446358" indent="-223179" lvl="1">
              <a:lnSpc>
                <a:spcPts val="2770"/>
              </a:lnSpc>
              <a:buFont typeface="Arial"/>
              <a:buChar char="•"/>
            </a:pP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Minimizes assignment cost</a:t>
            </a:r>
          </a:p>
          <a:p>
            <a:pPr algn="l">
              <a:lnSpc>
                <a:spcPts val="277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707861" y="5584730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02.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530272" y="4065834"/>
            <a:ext cx="6089281" cy="107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6358" indent="-223179" lvl="1">
              <a:lnSpc>
                <a:spcPts val="2770"/>
              </a:lnSpc>
              <a:buFont typeface="Arial"/>
              <a:buChar char="•"/>
            </a:pP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Restores identity after occlusion</a:t>
            </a:r>
          </a:p>
          <a:p>
            <a:pPr algn="l" marL="446358" indent="-223179" lvl="1">
              <a:lnSpc>
                <a:spcPts val="2770"/>
              </a:lnSpc>
              <a:buFont typeface="Arial"/>
              <a:buChar char="•"/>
            </a:pP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Uses color hist</a:t>
            </a:r>
            <a:r>
              <a:rPr lang="en-US" sz="2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ogram similarity</a:t>
            </a:r>
          </a:p>
          <a:p>
            <a:pPr algn="l">
              <a:lnSpc>
                <a:spcPts val="277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8959771" y="2925438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03.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35093" y="3050209"/>
            <a:ext cx="2173187" cy="432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HSV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Re-ID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5594249" y="7200900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92978" y="2979508"/>
            <a:ext cx="5815843" cy="4800714"/>
          </a:xfrm>
          <a:custGeom>
            <a:avLst/>
            <a:gdLst/>
            <a:ahLst/>
            <a:cxnLst/>
            <a:rect r="r" b="b" t="t" l="l"/>
            <a:pathLst>
              <a:path h="4800714" w="5815843">
                <a:moveTo>
                  <a:pt x="0" y="0"/>
                </a:moveTo>
                <a:lnTo>
                  <a:pt x="5815843" y="0"/>
                </a:lnTo>
                <a:lnTo>
                  <a:pt x="5815843" y="4800714"/>
                </a:lnTo>
                <a:lnTo>
                  <a:pt x="0" y="4800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33357" y="1000125"/>
            <a:ext cx="439265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THYNK UNLIMITED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3766" y="440625"/>
            <a:ext cx="7875700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EXPERIMENTAL SETUP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7472" y="2512624"/>
            <a:ext cx="8896528" cy="2630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10</a:t>
            </a: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video sequences</a:t>
            </a: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Diverse conditions:</a:t>
            </a: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Static / moving cameras</a:t>
            </a: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Single / multiple objects</a:t>
            </a: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Clean / cluttered backgrounds</a:t>
            </a:r>
          </a:p>
          <a:p>
            <a:pPr algn="l">
              <a:lnSpc>
                <a:spcPts val="344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16894" y="2030195"/>
            <a:ext cx="3123902" cy="6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DATASET &amp;</a:t>
            </a:r>
            <a:r>
              <a:rPr lang="en-US" b="true" sz="20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EVALUATION</a:t>
            </a:r>
          </a:p>
          <a:p>
            <a:pPr algn="ctr">
              <a:lnSpc>
                <a:spcPts val="2126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19957" y="5217862"/>
            <a:ext cx="2917775" cy="6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EVALUATION METRICS</a:t>
            </a:r>
          </a:p>
          <a:p>
            <a:pPr algn="ctr">
              <a:lnSpc>
                <a:spcPts val="2126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16894" y="5821392"/>
            <a:ext cx="8896528" cy="348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Pr</a:t>
            </a: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ecision</a:t>
            </a: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Rec</a:t>
            </a: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all</a:t>
            </a: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F1-score</a:t>
            </a: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MOTA</a:t>
            </a: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ID </a:t>
            </a: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Switches</a:t>
            </a: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Centroid MAE</a:t>
            </a:r>
          </a:p>
          <a:p>
            <a:pPr algn="l">
              <a:lnSpc>
                <a:spcPts val="3440"/>
              </a:lnSpc>
            </a:pPr>
          </a:p>
          <a:p>
            <a:pPr algn="l">
              <a:lnSpc>
                <a:spcPts val="344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40994" y="4872004"/>
            <a:ext cx="8316397" cy="4621671"/>
          </a:xfrm>
          <a:custGeom>
            <a:avLst/>
            <a:gdLst/>
            <a:ahLst/>
            <a:cxnLst/>
            <a:rect r="r" b="b" t="t" l="l"/>
            <a:pathLst>
              <a:path h="4621671" w="8316397">
                <a:moveTo>
                  <a:pt x="0" y="0"/>
                </a:moveTo>
                <a:lnTo>
                  <a:pt x="8316396" y="0"/>
                </a:lnTo>
                <a:lnTo>
                  <a:pt x="8316396" y="4621671"/>
                </a:lnTo>
                <a:lnTo>
                  <a:pt x="0" y="4621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601886" y="1318296"/>
            <a:ext cx="4720323" cy="56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2"/>
              </a:lnSpc>
            </a:pPr>
            <a:r>
              <a:rPr lang="en-US" b="true" sz="1945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DATAS</a:t>
            </a:r>
            <a:r>
              <a:rPr lang="en-US" b="true" sz="1945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ET &amp; EVALUATION</a:t>
            </a:r>
          </a:p>
          <a:p>
            <a:pPr algn="ctr">
              <a:lnSpc>
                <a:spcPts val="2022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48051" y="286069"/>
            <a:ext cx="7561347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64473" y="1729294"/>
            <a:ext cx="11027107" cy="5591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3818" indent="-276909" lvl="1">
              <a:lnSpc>
                <a:spcPts val="3975"/>
              </a:lnSpc>
              <a:buFont typeface="Arial"/>
              <a:buChar char="•"/>
            </a:pPr>
            <a:r>
              <a:rPr lang="en-US" sz="256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YOLOV8 ACHIEVED B</a:t>
            </a:r>
            <a:r>
              <a:rPr lang="en-US" sz="256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EST OVERALL ACCURACY</a:t>
            </a:r>
          </a:p>
          <a:p>
            <a:pPr algn="just" marL="553818" indent="-276909" lvl="1">
              <a:lnSpc>
                <a:spcPts val="3975"/>
              </a:lnSpc>
              <a:buFont typeface="Arial"/>
              <a:buChar char="•"/>
            </a:pPr>
            <a:r>
              <a:rPr lang="en-US" sz="256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F1 ≈ 0.89</a:t>
            </a:r>
          </a:p>
          <a:p>
            <a:pPr algn="l" marL="553818" indent="-276909" lvl="1">
              <a:lnSpc>
                <a:spcPts val="3975"/>
              </a:lnSpc>
              <a:buFont typeface="Arial"/>
              <a:buChar char="•"/>
            </a:pPr>
            <a:r>
              <a:rPr lang="en-US" sz="256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MOTA ≈ 0.85</a:t>
            </a:r>
          </a:p>
          <a:p>
            <a:pPr algn="l" marL="553818" indent="-276909" lvl="1">
              <a:lnSpc>
                <a:spcPts val="3975"/>
              </a:lnSpc>
              <a:buFont typeface="Arial"/>
              <a:buChar char="•"/>
            </a:pPr>
            <a:r>
              <a:rPr lang="en-US" sz="256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MOG2 PROVIDED FASTEST PERFORMANCE</a:t>
            </a:r>
          </a:p>
          <a:p>
            <a:pPr algn="l" marL="553818" indent="-276909" lvl="1">
              <a:lnSpc>
                <a:spcPts val="3975"/>
              </a:lnSpc>
              <a:buFont typeface="Arial"/>
              <a:buChar char="•"/>
            </a:pPr>
            <a:r>
              <a:rPr lang="en-US" sz="256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30–60 FPS ON CPU</a:t>
            </a:r>
          </a:p>
          <a:p>
            <a:pPr algn="l" marL="553818" indent="-276909" lvl="1">
              <a:lnSpc>
                <a:spcPts val="3975"/>
              </a:lnSpc>
              <a:buFont typeface="Arial"/>
              <a:buChar char="•"/>
            </a:pPr>
            <a:r>
              <a:rPr lang="en-US" sz="256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GMG SHOWED MODERATE PERFORMANCEBETTER THAN MOG2 IN SOME TEXTURED SCENES</a:t>
            </a:r>
          </a:p>
          <a:p>
            <a:pPr algn="l" marL="553818" indent="-276909" lvl="1">
              <a:lnSpc>
                <a:spcPts val="3975"/>
              </a:lnSpc>
              <a:buFont typeface="Arial"/>
              <a:buChar char="•"/>
            </a:pPr>
            <a:r>
              <a:rPr lang="en-US" sz="256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SLOWER DUE TO WARMUP PERIOD</a:t>
            </a:r>
          </a:p>
          <a:p>
            <a:pPr algn="l">
              <a:lnSpc>
                <a:spcPts val="3975"/>
              </a:lnSpc>
            </a:pPr>
          </a:p>
          <a:p>
            <a:pPr algn="l">
              <a:lnSpc>
                <a:spcPts val="3975"/>
              </a:lnSpc>
            </a:pPr>
          </a:p>
          <a:p>
            <a:pPr algn="l">
              <a:lnSpc>
                <a:spcPts val="3975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5857" y="1556337"/>
            <a:ext cx="17259300" cy="7701963"/>
          </a:xfrm>
          <a:custGeom>
            <a:avLst/>
            <a:gdLst/>
            <a:ahLst/>
            <a:cxnLst/>
            <a:rect r="r" b="b" t="t" l="l"/>
            <a:pathLst>
              <a:path h="7701963" w="17259300">
                <a:moveTo>
                  <a:pt x="0" y="0"/>
                </a:moveTo>
                <a:lnTo>
                  <a:pt x="17259300" y="0"/>
                </a:lnTo>
                <a:lnTo>
                  <a:pt x="17259300" y="7701963"/>
                </a:lnTo>
                <a:lnTo>
                  <a:pt x="0" y="77019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8051" y="286069"/>
            <a:ext cx="7561347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RESULTS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1193" y="744888"/>
            <a:ext cx="7561347" cy="175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INSIGHTS &amp; ANALYSIS</a:t>
            </a:r>
          </a:p>
          <a:p>
            <a:pPr algn="ctr">
              <a:lnSpc>
                <a:spcPts val="6875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49250" y="3152173"/>
            <a:ext cx="9951571" cy="380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2692" b="true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Wh</a:t>
            </a:r>
            <a:r>
              <a:rPr lang="en-US" sz="2692" b="true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at We Learned</a:t>
            </a:r>
          </a:p>
          <a:p>
            <a:pPr algn="l" marL="581372" indent="-290686" lvl="1">
              <a:lnSpc>
                <a:spcPts val="4335"/>
              </a:lnSpc>
              <a:buFont typeface="Arial"/>
              <a:buChar char="•"/>
            </a:pPr>
            <a:r>
              <a:rPr lang="en-US" sz="2692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No single algorithm is best for all scenarios</a:t>
            </a:r>
          </a:p>
          <a:p>
            <a:pPr algn="l" marL="581372" indent="-290686" lvl="1">
              <a:lnSpc>
                <a:spcPts val="4335"/>
              </a:lnSpc>
              <a:buFont typeface="Arial"/>
              <a:buChar char="•"/>
            </a:pPr>
            <a:r>
              <a:rPr lang="en-US" sz="2692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Detector choice is the most important factor</a:t>
            </a:r>
          </a:p>
          <a:p>
            <a:pPr algn="l" marL="581372" indent="-290686" lvl="1">
              <a:lnSpc>
                <a:spcPts val="4335"/>
              </a:lnSpc>
              <a:buFont typeface="Arial"/>
              <a:buChar char="•"/>
            </a:pPr>
            <a:r>
              <a:rPr lang="en-US" sz="2692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Scene characteristics should guide algorithm selection</a:t>
            </a:r>
          </a:p>
          <a:p>
            <a:pPr algn="l" marL="581372" indent="-290686" lvl="1">
              <a:lnSpc>
                <a:spcPts val="4335"/>
              </a:lnSpc>
              <a:buFont typeface="Arial"/>
              <a:buChar char="•"/>
            </a:pPr>
            <a:r>
              <a:rPr lang="en-US" sz="2692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HSV Re-ID reduced identity switches by ~20%</a:t>
            </a:r>
          </a:p>
          <a:p>
            <a:pPr algn="l" marL="581372" indent="-290686" lvl="1">
              <a:lnSpc>
                <a:spcPts val="4335"/>
              </a:lnSpc>
              <a:buFont typeface="Arial"/>
              <a:buChar char="•"/>
            </a:pPr>
            <a:r>
              <a:rPr lang="en-US" sz="2692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Hyperparameter tuning significantly improves results</a:t>
            </a:r>
          </a:p>
          <a:p>
            <a:pPr algn="ctr">
              <a:lnSpc>
                <a:spcPts val="360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559258" y="3194753"/>
            <a:ext cx="2700042" cy="5106463"/>
          </a:xfrm>
          <a:custGeom>
            <a:avLst/>
            <a:gdLst/>
            <a:ahLst/>
            <a:cxnLst/>
            <a:rect r="r" b="b" t="t" l="l"/>
            <a:pathLst>
              <a:path h="5106463" w="2700042">
                <a:moveTo>
                  <a:pt x="0" y="0"/>
                </a:moveTo>
                <a:lnTo>
                  <a:pt x="2700042" y="0"/>
                </a:lnTo>
                <a:lnTo>
                  <a:pt x="2700042" y="5106463"/>
                </a:lnTo>
                <a:lnTo>
                  <a:pt x="0" y="5106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04007" y="1336955"/>
            <a:ext cx="6491488" cy="7348854"/>
          </a:xfrm>
          <a:custGeom>
            <a:avLst/>
            <a:gdLst/>
            <a:ahLst/>
            <a:cxnLst/>
            <a:rect r="r" b="b" t="t" l="l"/>
            <a:pathLst>
              <a:path h="7348854" w="6491488">
                <a:moveTo>
                  <a:pt x="0" y="0"/>
                </a:moveTo>
                <a:lnTo>
                  <a:pt x="6491488" y="0"/>
                </a:lnTo>
                <a:lnTo>
                  <a:pt x="6491488" y="7348854"/>
                </a:lnTo>
                <a:lnTo>
                  <a:pt x="0" y="73488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7177" y="785852"/>
            <a:ext cx="11643619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CHALLENGES / FAILURE CASES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7177" y="2940795"/>
            <a:ext cx="9986810" cy="345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5"/>
              </a:lnSpc>
            </a:pPr>
            <a:r>
              <a:rPr lang="en-US" sz="290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Obse</a:t>
            </a:r>
            <a:r>
              <a:rPr lang="en-US" sz="290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rved Limitations</a:t>
            </a:r>
          </a:p>
          <a:p>
            <a:pPr algn="l" marL="1255271" indent="-418424" lvl="2">
              <a:lnSpc>
                <a:spcPts val="3895"/>
              </a:lnSpc>
              <a:buFont typeface="Arial"/>
              <a:buChar char="⚬"/>
            </a:pPr>
            <a:r>
              <a:rPr lang="en-US" sz="290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Motion Blur: Causes inaccurate bounding boxes</a:t>
            </a:r>
          </a:p>
          <a:p>
            <a:pPr algn="l" marL="1255271" indent="-418424" lvl="2">
              <a:lnSpc>
                <a:spcPts val="3895"/>
              </a:lnSpc>
              <a:buFont typeface="Arial"/>
              <a:buChar char="⚬"/>
            </a:pPr>
            <a:r>
              <a:rPr lang="en-US" sz="290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Occlusion: Can break identity continuity</a:t>
            </a:r>
          </a:p>
          <a:p>
            <a:pPr algn="l" marL="1255271" indent="-418424" lvl="2">
              <a:lnSpc>
                <a:spcPts val="3895"/>
              </a:lnSpc>
              <a:buFont typeface="Arial"/>
              <a:buChar char="⚬"/>
            </a:pPr>
            <a:r>
              <a:rPr lang="en-US" sz="290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Illumination Changes: Affects background subtraction methods</a:t>
            </a:r>
          </a:p>
          <a:p>
            <a:pPr algn="l" marL="1255271" indent="-418424" lvl="2">
              <a:lnSpc>
                <a:spcPts val="3895"/>
              </a:lnSpc>
              <a:buFont typeface="Arial"/>
              <a:buChar char="⚬"/>
            </a:pPr>
            <a:r>
              <a:rPr lang="en-US" sz="290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Latency: YOLO is slower without GPU acceleration</a:t>
            </a:r>
          </a:p>
          <a:p>
            <a:pPr algn="l">
              <a:lnSpc>
                <a:spcPts val="3895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0841" y="1133475"/>
            <a:ext cx="11643619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7177" y="2282905"/>
            <a:ext cx="9986810" cy="588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5"/>
              </a:lnSpc>
            </a:pPr>
            <a:r>
              <a:rPr lang="en-US" sz="290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Final Takeaways</a:t>
            </a:r>
          </a:p>
          <a:p>
            <a:pPr algn="l" marL="627635" indent="-313818" lvl="1">
              <a:lnSpc>
                <a:spcPts val="3895"/>
              </a:lnSpc>
              <a:buFont typeface="Arial"/>
              <a:buChar char="•"/>
            </a:pPr>
            <a:r>
              <a:rPr lang="en-US" sz="290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Built a complet</a:t>
            </a:r>
            <a:r>
              <a:rPr lang="en-US" sz="290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 multi-object tracking pipeline</a:t>
            </a:r>
          </a:p>
          <a:p>
            <a:pPr algn="l" marL="627635" indent="-313818" lvl="1">
              <a:lnSpc>
                <a:spcPts val="3895"/>
              </a:lnSpc>
              <a:buFont typeface="Arial"/>
              <a:buChar char="•"/>
            </a:pPr>
            <a:r>
              <a:rPr lang="en-US" sz="290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Compared classical and deep-learning methods</a:t>
            </a:r>
          </a:p>
          <a:p>
            <a:pPr algn="l" marL="627635" indent="-313818" lvl="1">
              <a:lnSpc>
                <a:spcPts val="3895"/>
              </a:lnSpc>
              <a:buFont typeface="Arial"/>
              <a:buChar char="•"/>
            </a:pPr>
            <a:r>
              <a:rPr lang="en-US" sz="290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Dem</a:t>
            </a:r>
            <a:r>
              <a:rPr lang="en-US" sz="290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onstrated that algorithm selection must be scene-aware</a:t>
            </a:r>
          </a:p>
          <a:p>
            <a:pPr algn="l" marL="627635" indent="-313818" lvl="1">
              <a:lnSpc>
                <a:spcPts val="3895"/>
              </a:lnSpc>
              <a:buFont typeface="Arial"/>
              <a:buChar char="•"/>
            </a:pPr>
            <a:r>
              <a:rPr lang="en-US" sz="290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Va</a:t>
            </a:r>
            <a:r>
              <a:rPr lang="en-US" sz="290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lidated importance of modular design + systematic tuning</a:t>
            </a:r>
          </a:p>
          <a:p>
            <a:pPr algn="l">
              <a:lnSpc>
                <a:spcPts val="3895"/>
              </a:lnSpc>
            </a:pPr>
            <a:r>
              <a:rPr lang="en-US" sz="290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Core Insight:</a:t>
            </a:r>
          </a:p>
          <a:p>
            <a:pPr algn="l">
              <a:lnSpc>
                <a:spcPts val="3895"/>
              </a:lnSpc>
            </a:pPr>
            <a:r>
              <a:rPr lang="en-US" sz="290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There is no universal best tracker — performance depends on context.</a:t>
            </a:r>
          </a:p>
          <a:p>
            <a:pPr algn="l">
              <a:lnSpc>
                <a:spcPts val="3895"/>
              </a:lnSpc>
            </a:pPr>
          </a:p>
          <a:p>
            <a:pPr algn="l">
              <a:lnSpc>
                <a:spcPts val="3895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DAHIPx8EpiY</dc:identifier>
  <dcterms:modified xsi:type="dcterms:W3CDTF">2011-08-01T06:04:30Z</dcterms:modified>
  <cp:revision>1</cp:revision>
  <dc:title>Blue Futuristic Artificial Intelligence Presentation</dc:title>
</cp:coreProperties>
</file>