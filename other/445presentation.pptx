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grandir" panose="020B0604020202020204" charset="0"/>
      <p:regular r:id="rId19"/>
    </p:embeddedFont>
    <p:embeddedFont>
      <p:font typeface="Agrandir Bold" panose="020B0604020202020204" charset="0"/>
      <p:regular r:id="rId20"/>
    </p:embeddedFont>
    <p:embeddedFont>
      <p:font typeface="Anton" pitchFamily="2" charset="0"/>
      <p:regular r:id="rId21"/>
    </p:embeddedFon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Canva Sans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221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02-May-26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600390" y="238923"/>
            <a:ext cx="9495560" cy="2434316"/>
          </a:xfrm>
          <a:custGeom>
            <a:avLst/>
            <a:gdLst/>
            <a:ahLst/>
            <a:cxnLst/>
            <a:rect l="l" t="t" r="r" b="b"/>
            <a:pathLst>
              <a:path w="9495560" h="2434316">
                <a:moveTo>
                  <a:pt x="0" y="0"/>
                </a:moveTo>
                <a:lnTo>
                  <a:pt x="9495560" y="0"/>
                </a:lnTo>
                <a:lnTo>
                  <a:pt x="9495560" y="2434316"/>
                </a:lnTo>
                <a:lnTo>
                  <a:pt x="0" y="24343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238029" y="3902212"/>
            <a:ext cx="2293641" cy="693771"/>
            <a:chOff x="0" y="0"/>
            <a:chExt cx="604087" cy="18272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04087" cy="182722"/>
            </a:xfrm>
            <a:custGeom>
              <a:avLst/>
              <a:gdLst/>
              <a:ahLst/>
              <a:cxnLst/>
              <a:rect l="l" t="t" r="r" b="b"/>
              <a:pathLst>
                <a:path w="604087" h="182722">
                  <a:moveTo>
                    <a:pt x="0" y="0"/>
                  </a:moveTo>
                  <a:lnTo>
                    <a:pt x="604087" y="0"/>
                  </a:lnTo>
                  <a:lnTo>
                    <a:pt x="604087" y="182722"/>
                  </a:lnTo>
                  <a:lnTo>
                    <a:pt x="0" y="182722"/>
                  </a:lnTo>
                  <a:close/>
                </a:path>
              </a:pathLst>
            </a:custGeom>
            <a:solidFill>
              <a:srgbClr val="EFF0F2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604087" cy="211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r>
                <a:rPr lang="en-US" sz="2045" b="1">
                  <a:solidFill>
                    <a:srgbClr val="020BB5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MOG2/GMG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22306" y="6131342"/>
            <a:ext cx="8071893" cy="4155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3"/>
              </a:lnSpc>
            </a:pPr>
            <a:r>
              <a:rPr lang="en-US" sz="2902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COURSE:</a:t>
            </a:r>
            <a:r>
              <a:rPr lang="en-US" sz="2902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 CSE445</a:t>
            </a:r>
          </a:p>
          <a:p>
            <a:pPr algn="l">
              <a:lnSpc>
                <a:spcPts val="4063"/>
              </a:lnSpc>
            </a:pPr>
            <a:r>
              <a:rPr lang="en-US" sz="2902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PROJECT GROUP:</a:t>
            </a:r>
            <a:r>
              <a:rPr lang="en-US" sz="2902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 07</a:t>
            </a:r>
          </a:p>
          <a:p>
            <a:pPr algn="l">
              <a:lnSpc>
                <a:spcPts val="4063"/>
              </a:lnSpc>
            </a:pPr>
            <a:r>
              <a:rPr lang="en-US" sz="2902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TEAM MEMBERS:</a:t>
            </a:r>
          </a:p>
          <a:p>
            <a:pPr algn="l">
              <a:lnSpc>
                <a:spcPts val="4063"/>
              </a:lnSpc>
            </a:pPr>
            <a:r>
              <a:rPr lang="en-US" sz="2902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MD NAFIUL ALAM CHOWDHURY — 2231774642</a:t>
            </a:r>
          </a:p>
          <a:p>
            <a:pPr algn="l">
              <a:lnSpc>
                <a:spcPts val="4063"/>
              </a:lnSpc>
            </a:pPr>
            <a:r>
              <a:rPr lang="en-US" sz="2902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FAHAD HOSSAIN SHOUROV — 2233219642</a:t>
            </a:r>
          </a:p>
          <a:p>
            <a:pPr algn="l">
              <a:lnSpc>
                <a:spcPts val="4063"/>
              </a:lnSpc>
            </a:pPr>
            <a:r>
              <a:rPr lang="en-US" sz="2902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FARHANA RAHMAN —2233151042</a:t>
            </a:r>
          </a:p>
          <a:p>
            <a:pPr algn="l">
              <a:lnSpc>
                <a:spcPts val="4063"/>
              </a:lnSpc>
            </a:pPr>
            <a:r>
              <a:rPr lang="en-US" sz="2902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MD SHADMAN SHIHAB — 2231639642</a:t>
            </a:r>
          </a:p>
          <a:p>
            <a:pPr algn="l">
              <a:lnSpc>
                <a:spcPts val="4063"/>
              </a:lnSpc>
            </a:pPr>
            <a:endParaRPr lang="en-US" sz="2902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190396" y="954538"/>
            <a:ext cx="8315548" cy="1086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47"/>
              </a:lnSpc>
              <a:spcBef>
                <a:spcPct val="0"/>
              </a:spcBef>
            </a:pPr>
            <a:r>
              <a:rPr lang="en-US" sz="6584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OBJECT TRACKER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190396" y="3002078"/>
            <a:ext cx="8144768" cy="336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2045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CLASSICAL COMPUTER VISION  • WORKS ON CUSTOM VIDEOS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3826770" y="3902212"/>
            <a:ext cx="2727251" cy="693771"/>
            <a:chOff x="0" y="0"/>
            <a:chExt cx="718288" cy="18272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18288" cy="182722"/>
            </a:xfrm>
            <a:custGeom>
              <a:avLst/>
              <a:gdLst/>
              <a:ahLst/>
              <a:cxnLst/>
              <a:rect l="l" t="t" r="r" b="b"/>
              <a:pathLst>
                <a:path w="718288" h="182722">
                  <a:moveTo>
                    <a:pt x="0" y="0"/>
                  </a:moveTo>
                  <a:lnTo>
                    <a:pt x="718288" y="0"/>
                  </a:lnTo>
                  <a:lnTo>
                    <a:pt x="718288" y="182722"/>
                  </a:lnTo>
                  <a:lnTo>
                    <a:pt x="0" y="182722"/>
                  </a:lnTo>
                  <a:close/>
                </a:path>
              </a:pathLst>
            </a:custGeom>
            <a:solidFill>
              <a:srgbClr val="EFF0F2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718288" cy="211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r>
                <a:rPr lang="en-US" sz="2045" b="1">
                  <a:solidFill>
                    <a:srgbClr val="020BB5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KALMAN FILTER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849296" y="3902212"/>
            <a:ext cx="3489806" cy="693771"/>
            <a:chOff x="0" y="0"/>
            <a:chExt cx="919126" cy="18272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19126" cy="182722"/>
            </a:xfrm>
            <a:custGeom>
              <a:avLst/>
              <a:gdLst/>
              <a:ahLst/>
              <a:cxnLst/>
              <a:rect l="l" t="t" r="r" b="b"/>
              <a:pathLst>
                <a:path w="919126" h="182722">
                  <a:moveTo>
                    <a:pt x="0" y="0"/>
                  </a:moveTo>
                  <a:lnTo>
                    <a:pt x="919126" y="0"/>
                  </a:lnTo>
                  <a:lnTo>
                    <a:pt x="919126" y="182722"/>
                  </a:lnTo>
                  <a:lnTo>
                    <a:pt x="0" y="182722"/>
                  </a:lnTo>
                  <a:close/>
                </a:path>
              </a:pathLst>
            </a:custGeom>
            <a:solidFill>
              <a:srgbClr val="EFF0F2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919126" cy="211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r>
                <a:rPr lang="en-US" sz="2045" b="1">
                  <a:solidFill>
                    <a:srgbClr val="020BB5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HUNGARIAN ALGORITHM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769997" y="3902212"/>
            <a:ext cx="1919840" cy="693771"/>
            <a:chOff x="0" y="0"/>
            <a:chExt cx="505637" cy="18272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05637" cy="182722"/>
            </a:xfrm>
            <a:custGeom>
              <a:avLst/>
              <a:gdLst/>
              <a:ahLst/>
              <a:cxnLst/>
              <a:rect l="l" t="t" r="r" b="b"/>
              <a:pathLst>
                <a:path w="505637" h="182722">
                  <a:moveTo>
                    <a:pt x="0" y="0"/>
                  </a:moveTo>
                  <a:lnTo>
                    <a:pt x="505637" y="0"/>
                  </a:lnTo>
                  <a:lnTo>
                    <a:pt x="505637" y="182722"/>
                  </a:lnTo>
                  <a:lnTo>
                    <a:pt x="0" y="182722"/>
                  </a:lnTo>
                  <a:close/>
                </a:path>
              </a:pathLst>
            </a:custGeom>
            <a:solidFill>
              <a:srgbClr val="EFF0F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505637" cy="211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r>
                <a:rPr lang="en-US" sz="2045" b="1">
                  <a:solidFill>
                    <a:srgbClr val="020BB5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HSV RE-ID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136030" y="3902212"/>
            <a:ext cx="1919840" cy="693771"/>
            <a:chOff x="0" y="0"/>
            <a:chExt cx="505637" cy="18272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5637" cy="182722"/>
            </a:xfrm>
            <a:custGeom>
              <a:avLst/>
              <a:gdLst/>
              <a:ahLst/>
              <a:cxnLst/>
              <a:rect l="l" t="t" r="r" b="b"/>
              <a:pathLst>
                <a:path w="505637" h="182722">
                  <a:moveTo>
                    <a:pt x="0" y="0"/>
                  </a:moveTo>
                  <a:lnTo>
                    <a:pt x="505637" y="0"/>
                  </a:lnTo>
                  <a:lnTo>
                    <a:pt x="505637" y="182722"/>
                  </a:lnTo>
                  <a:lnTo>
                    <a:pt x="0" y="182722"/>
                  </a:lnTo>
                  <a:close/>
                </a:path>
              </a:pathLst>
            </a:custGeom>
            <a:solidFill>
              <a:srgbClr val="EFF0F2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28575"/>
              <a:ext cx="505637" cy="211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r>
                <a:rPr lang="en-US" sz="2045" b="1">
                  <a:solidFill>
                    <a:srgbClr val="020BB5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YOLOV8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5351145" y="3902212"/>
            <a:ext cx="2488018" cy="693771"/>
            <a:chOff x="0" y="0"/>
            <a:chExt cx="655280" cy="18272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55280" cy="182722"/>
            </a:xfrm>
            <a:custGeom>
              <a:avLst/>
              <a:gdLst/>
              <a:ahLst/>
              <a:cxnLst/>
              <a:rect l="l" t="t" r="r" b="b"/>
              <a:pathLst>
                <a:path w="655280" h="182722">
                  <a:moveTo>
                    <a:pt x="0" y="0"/>
                  </a:moveTo>
                  <a:lnTo>
                    <a:pt x="655280" y="0"/>
                  </a:lnTo>
                  <a:lnTo>
                    <a:pt x="655280" y="182722"/>
                  </a:lnTo>
                  <a:lnTo>
                    <a:pt x="0" y="182722"/>
                  </a:lnTo>
                  <a:close/>
                </a:path>
              </a:pathLst>
            </a:custGeom>
            <a:solidFill>
              <a:srgbClr val="EFF0F2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655280" cy="211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r>
                <a:rPr lang="en-US" sz="2045" b="1">
                  <a:solidFill>
                    <a:srgbClr val="020BB5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GRID SEARCH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88759" y="2855149"/>
            <a:ext cx="4516221" cy="989754"/>
            <a:chOff x="0" y="0"/>
            <a:chExt cx="1108760" cy="2429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08760" cy="242991"/>
            </a:xfrm>
            <a:custGeom>
              <a:avLst/>
              <a:gdLst/>
              <a:ahLst/>
              <a:cxnLst/>
              <a:rect l="l" t="t" r="r" b="b"/>
              <a:pathLst>
                <a:path w="1108760" h="242991">
                  <a:moveTo>
                    <a:pt x="121495" y="0"/>
                  </a:moveTo>
                  <a:lnTo>
                    <a:pt x="987264" y="0"/>
                  </a:lnTo>
                  <a:cubicBezTo>
                    <a:pt x="1019487" y="0"/>
                    <a:pt x="1050390" y="12800"/>
                    <a:pt x="1073175" y="35585"/>
                  </a:cubicBezTo>
                  <a:cubicBezTo>
                    <a:pt x="1095959" y="58370"/>
                    <a:pt x="1108760" y="89273"/>
                    <a:pt x="1108760" y="121495"/>
                  </a:cubicBezTo>
                  <a:lnTo>
                    <a:pt x="1108760" y="121495"/>
                  </a:lnTo>
                  <a:cubicBezTo>
                    <a:pt x="1108760" y="153718"/>
                    <a:pt x="1095959" y="184621"/>
                    <a:pt x="1073175" y="207406"/>
                  </a:cubicBezTo>
                  <a:cubicBezTo>
                    <a:pt x="1050390" y="230190"/>
                    <a:pt x="1019487" y="242991"/>
                    <a:pt x="987264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08760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388759" y="2855149"/>
            <a:ext cx="1081897" cy="989754"/>
            <a:chOff x="0" y="0"/>
            <a:chExt cx="265612" cy="24299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88759" y="4315542"/>
            <a:ext cx="4516221" cy="989754"/>
            <a:chOff x="0" y="0"/>
            <a:chExt cx="1108760" cy="24299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08760" cy="242991"/>
            </a:xfrm>
            <a:custGeom>
              <a:avLst/>
              <a:gdLst/>
              <a:ahLst/>
              <a:cxnLst/>
              <a:rect l="l" t="t" r="r" b="b"/>
              <a:pathLst>
                <a:path w="1108760" h="242991">
                  <a:moveTo>
                    <a:pt x="121495" y="0"/>
                  </a:moveTo>
                  <a:lnTo>
                    <a:pt x="987264" y="0"/>
                  </a:lnTo>
                  <a:cubicBezTo>
                    <a:pt x="1019487" y="0"/>
                    <a:pt x="1050390" y="12800"/>
                    <a:pt x="1073175" y="35585"/>
                  </a:cubicBezTo>
                  <a:cubicBezTo>
                    <a:pt x="1095959" y="58370"/>
                    <a:pt x="1108760" y="89273"/>
                    <a:pt x="1108760" y="121495"/>
                  </a:cubicBezTo>
                  <a:lnTo>
                    <a:pt x="1108760" y="121495"/>
                  </a:lnTo>
                  <a:cubicBezTo>
                    <a:pt x="1108760" y="153718"/>
                    <a:pt x="1095959" y="184621"/>
                    <a:pt x="1073175" y="207406"/>
                  </a:cubicBezTo>
                  <a:cubicBezTo>
                    <a:pt x="1050390" y="230190"/>
                    <a:pt x="1019487" y="242991"/>
                    <a:pt x="987264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108760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88759" y="4315542"/>
            <a:ext cx="1081897" cy="989754"/>
            <a:chOff x="0" y="0"/>
            <a:chExt cx="265612" cy="24299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561003" y="2855149"/>
            <a:ext cx="4636648" cy="989754"/>
            <a:chOff x="0" y="0"/>
            <a:chExt cx="1138325" cy="24299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38325" cy="242991"/>
            </a:xfrm>
            <a:custGeom>
              <a:avLst/>
              <a:gdLst/>
              <a:ahLst/>
              <a:cxnLst/>
              <a:rect l="l" t="t" r="r" b="b"/>
              <a:pathLst>
                <a:path w="1138325" h="242991">
                  <a:moveTo>
                    <a:pt x="121495" y="0"/>
                  </a:moveTo>
                  <a:lnTo>
                    <a:pt x="1016830" y="0"/>
                  </a:lnTo>
                  <a:cubicBezTo>
                    <a:pt x="1049053" y="0"/>
                    <a:pt x="1079955" y="12800"/>
                    <a:pt x="1102740" y="35585"/>
                  </a:cubicBezTo>
                  <a:cubicBezTo>
                    <a:pt x="1125525" y="58370"/>
                    <a:pt x="1138325" y="89273"/>
                    <a:pt x="1138325" y="121495"/>
                  </a:cubicBezTo>
                  <a:lnTo>
                    <a:pt x="1138325" y="121495"/>
                  </a:lnTo>
                  <a:cubicBezTo>
                    <a:pt x="1138325" y="153718"/>
                    <a:pt x="1125525" y="184621"/>
                    <a:pt x="1102740" y="207406"/>
                  </a:cubicBezTo>
                  <a:cubicBezTo>
                    <a:pt x="1079955" y="230190"/>
                    <a:pt x="1049053" y="242991"/>
                    <a:pt x="1016830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138325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276455" y="2855149"/>
            <a:ext cx="1081897" cy="989754"/>
            <a:chOff x="0" y="0"/>
            <a:chExt cx="265612" cy="24299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561003" y="4315542"/>
            <a:ext cx="4636648" cy="989754"/>
            <a:chOff x="0" y="0"/>
            <a:chExt cx="1138325" cy="24299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138325" cy="242991"/>
            </a:xfrm>
            <a:custGeom>
              <a:avLst/>
              <a:gdLst/>
              <a:ahLst/>
              <a:cxnLst/>
              <a:rect l="l" t="t" r="r" b="b"/>
              <a:pathLst>
                <a:path w="1138325" h="242991">
                  <a:moveTo>
                    <a:pt x="121495" y="0"/>
                  </a:moveTo>
                  <a:lnTo>
                    <a:pt x="1016830" y="0"/>
                  </a:lnTo>
                  <a:cubicBezTo>
                    <a:pt x="1049053" y="0"/>
                    <a:pt x="1079955" y="12800"/>
                    <a:pt x="1102740" y="35585"/>
                  </a:cubicBezTo>
                  <a:cubicBezTo>
                    <a:pt x="1125525" y="58370"/>
                    <a:pt x="1138325" y="89273"/>
                    <a:pt x="1138325" y="121495"/>
                  </a:cubicBezTo>
                  <a:lnTo>
                    <a:pt x="1138325" y="121495"/>
                  </a:lnTo>
                  <a:cubicBezTo>
                    <a:pt x="1138325" y="153718"/>
                    <a:pt x="1125525" y="184621"/>
                    <a:pt x="1102740" y="207406"/>
                  </a:cubicBezTo>
                  <a:cubicBezTo>
                    <a:pt x="1079955" y="230190"/>
                    <a:pt x="1049053" y="242991"/>
                    <a:pt x="1016830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1138325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76455" y="4315542"/>
            <a:ext cx="1081897" cy="989754"/>
            <a:chOff x="0" y="0"/>
            <a:chExt cx="265612" cy="24299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388759" y="609559"/>
            <a:ext cx="9070970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PROBLEM STATEMENT: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844066" y="2967486"/>
            <a:ext cx="2173187" cy="781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9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Autonomous vehicles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73307" y="3030301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01.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844066" y="4407534"/>
            <a:ext cx="2173187" cy="813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Sports analytics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3307" y="4490694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02.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43211" y="2926639"/>
            <a:ext cx="2777801" cy="813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Surveillance systems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561003" y="3030301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03.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626671" y="4589072"/>
            <a:ext cx="2173187" cy="414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7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Robotics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1003" y="4490694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04.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88759" y="1698976"/>
            <a:ext cx="14706272" cy="863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7"/>
              </a:lnSpc>
            </a:pPr>
            <a:r>
              <a:rPr lang="en-US" sz="2245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WHY OBJECT TRACKING MATTERS?</a:t>
            </a:r>
          </a:p>
          <a:p>
            <a:pPr algn="l">
              <a:lnSpc>
                <a:spcPts val="2334"/>
              </a:lnSpc>
              <a:spcBef>
                <a:spcPct val="0"/>
              </a:spcBef>
            </a:pPr>
            <a:r>
              <a:rPr lang="en-US" sz="2245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OBJECT TRACKING IDENTIFIES AND FOLLOWS MOVING OBJECTS ACROSS VIDEO FRAMES.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0854876" y="2841982"/>
            <a:ext cx="4636648" cy="989754"/>
            <a:chOff x="0" y="0"/>
            <a:chExt cx="1138325" cy="242991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138325" cy="242991"/>
            </a:xfrm>
            <a:custGeom>
              <a:avLst/>
              <a:gdLst/>
              <a:ahLst/>
              <a:cxnLst/>
              <a:rect l="l" t="t" r="r" b="b"/>
              <a:pathLst>
                <a:path w="1138325" h="242991">
                  <a:moveTo>
                    <a:pt x="121495" y="0"/>
                  </a:moveTo>
                  <a:lnTo>
                    <a:pt x="1016830" y="0"/>
                  </a:lnTo>
                  <a:cubicBezTo>
                    <a:pt x="1049053" y="0"/>
                    <a:pt x="1079955" y="12800"/>
                    <a:pt x="1102740" y="35585"/>
                  </a:cubicBezTo>
                  <a:cubicBezTo>
                    <a:pt x="1125525" y="58370"/>
                    <a:pt x="1138325" y="89273"/>
                    <a:pt x="1138325" y="121495"/>
                  </a:cubicBezTo>
                  <a:lnTo>
                    <a:pt x="1138325" y="121495"/>
                  </a:lnTo>
                  <a:cubicBezTo>
                    <a:pt x="1138325" y="153718"/>
                    <a:pt x="1125525" y="184621"/>
                    <a:pt x="1102740" y="207406"/>
                  </a:cubicBezTo>
                  <a:cubicBezTo>
                    <a:pt x="1079955" y="230190"/>
                    <a:pt x="1049053" y="242991"/>
                    <a:pt x="1016830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39" name="TextBox 39"/>
            <p:cNvSpPr txBox="1"/>
            <p:nvPr/>
          </p:nvSpPr>
          <p:spPr>
            <a:xfrm>
              <a:off x="0" y="-28575"/>
              <a:ext cx="1138325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854876" y="2855149"/>
            <a:ext cx="1081897" cy="989754"/>
            <a:chOff x="0" y="0"/>
            <a:chExt cx="265612" cy="242991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1086865" y="3042060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05.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029365" y="3087451"/>
            <a:ext cx="2777801" cy="441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Medical imaging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388759" y="6841927"/>
            <a:ext cx="4214209" cy="923567"/>
            <a:chOff x="0" y="0"/>
            <a:chExt cx="1108760" cy="242991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108760" cy="242991"/>
            </a:xfrm>
            <a:custGeom>
              <a:avLst/>
              <a:gdLst/>
              <a:ahLst/>
              <a:cxnLst/>
              <a:rect l="l" t="t" r="r" b="b"/>
              <a:pathLst>
                <a:path w="1108760" h="242991">
                  <a:moveTo>
                    <a:pt x="121495" y="0"/>
                  </a:moveTo>
                  <a:lnTo>
                    <a:pt x="987264" y="0"/>
                  </a:lnTo>
                  <a:cubicBezTo>
                    <a:pt x="1019487" y="0"/>
                    <a:pt x="1050390" y="12800"/>
                    <a:pt x="1073175" y="35585"/>
                  </a:cubicBezTo>
                  <a:cubicBezTo>
                    <a:pt x="1095959" y="58370"/>
                    <a:pt x="1108760" y="89273"/>
                    <a:pt x="1108760" y="121495"/>
                  </a:cubicBezTo>
                  <a:lnTo>
                    <a:pt x="1108760" y="121495"/>
                  </a:lnTo>
                  <a:cubicBezTo>
                    <a:pt x="1108760" y="153718"/>
                    <a:pt x="1095959" y="184621"/>
                    <a:pt x="1073175" y="207406"/>
                  </a:cubicBezTo>
                  <a:cubicBezTo>
                    <a:pt x="1050390" y="230190"/>
                    <a:pt x="1019487" y="242991"/>
                    <a:pt x="987264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47" name="TextBox 47"/>
            <p:cNvSpPr txBox="1"/>
            <p:nvPr/>
          </p:nvSpPr>
          <p:spPr>
            <a:xfrm>
              <a:off x="0" y="-28575"/>
              <a:ext cx="1108760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388759" y="6841927"/>
            <a:ext cx="1009548" cy="923567"/>
            <a:chOff x="0" y="0"/>
            <a:chExt cx="265612" cy="242991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0" name="TextBox 50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380106" y="6871958"/>
            <a:ext cx="4214209" cy="923567"/>
            <a:chOff x="0" y="0"/>
            <a:chExt cx="1108760" cy="242991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108760" cy="242991"/>
            </a:xfrm>
            <a:custGeom>
              <a:avLst/>
              <a:gdLst/>
              <a:ahLst/>
              <a:cxnLst/>
              <a:rect l="l" t="t" r="r" b="b"/>
              <a:pathLst>
                <a:path w="1108760" h="242991">
                  <a:moveTo>
                    <a:pt x="121495" y="0"/>
                  </a:moveTo>
                  <a:lnTo>
                    <a:pt x="987264" y="0"/>
                  </a:lnTo>
                  <a:cubicBezTo>
                    <a:pt x="1019487" y="0"/>
                    <a:pt x="1050390" y="12800"/>
                    <a:pt x="1073175" y="35585"/>
                  </a:cubicBezTo>
                  <a:cubicBezTo>
                    <a:pt x="1095959" y="58370"/>
                    <a:pt x="1108760" y="89273"/>
                    <a:pt x="1108760" y="121495"/>
                  </a:cubicBezTo>
                  <a:lnTo>
                    <a:pt x="1108760" y="121495"/>
                  </a:lnTo>
                  <a:cubicBezTo>
                    <a:pt x="1108760" y="153718"/>
                    <a:pt x="1095959" y="184621"/>
                    <a:pt x="1073175" y="207406"/>
                  </a:cubicBezTo>
                  <a:cubicBezTo>
                    <a:pt x="1050390" y="230190"/>
                    <a:pt x="1019487" y="242991"/>
                    <a:pt x="987264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3" name="TextBox 53"/>
            <p:cNvSpPr txBox="1"/>
            <p:nvPr/>
          </p:nvSpPr>
          <p:spPr>
            <a:xfrm>
              <a:off x="0" y="-28575"/>
              <a:ext cx="1108760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380106" y="6871958"/>
            <a:ext cx="1009548" cy="923567"/>
            <a:chOff x="0" y="0"/>
            <a:chExt cx="265612" cy="242991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6" name="TextBox 56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24607" y="8204660"/>
            <a:ext cx="3880113" cy="923567"/>
            <a:chOff x="0" y="0"/>
            <a:chExt cx="1020859" cy="242991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020859" cy="242991"/>
            </a:xfrm>
            <a:custGeom>
              <a:avLst/>
              <a:gdLst/>
              <a:ahLst/>
              <a:cxnLst/>
              <a:rect l="l" t="t" r="r" b="b"/>
              <a:pathLst>
                <a:path w="1020859" h="242991">
                  <a:moveTo>
                    <a:pt x="121495" y="0"/>
                  </a:moveTo>
                  <a:lnTo>
                    <a:pt x="899364" y="0"/>
                  </a:lnTo>
                  <a:cubicBezTo>
                    <a:pt x="931586" y="0"/>
                    <a:pt x="962489" y="12800"/>
                    <a:pt x="985274" y="35585"/>
                  </a:cubicBezTo>
                  <a:cubicBezTo>
                    <a:pt x="1008059" y="58370"/>
                    <a:pt x="1020859" y="89273"/>
                    <a:pt x="1020859" y="121495"/>
                  </a:cubicBezTo>
                  <a:lnTo>
                    <a:pt x="1020859" y="121495"/>
                  </a:lnTo>
                  <a:cubicBezTo>
                    <a:pt x="1020859" y="153718"/>
                    <a:pt x="1008059" y="184621"/>
                    <a:pt x="985274" y="207406"/>
                  </a:cubicBezTo>
                  <a:cubicBezTo>
                    <a:pt x="962489" y="230190"/>
                    <a:pt x="931586" y="242991"/>
                    <a:pt x="899364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9" name="TextBox 59"/>
            <p:cNvSpPr txBox="1"/>
            <p:nvPr/>
          </p:nvSpPr>
          <p:spPr>
            <a:xfrm>
              <a:off x="0" y="-28575"/>
              <a:ext cx="1020859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01193" y="8204660"/>
            <a:ext cx="1009548" cy="923567"/>
            <a:chOff x="0" y="0"/>
            <a:chExt cx="265612" cy="242991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62" name="TextBox 62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549973" y="8206947"/>
            <a:ext cx="4326583" cy="923567"/>
            <a:chOff x="0" y="0"/>
            <a:chExt cx="1138325" cy="242991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138325" cy="242991"/>
            </a:xfrm>
            <a:custGeom>
              <a:avLst/>
              <a:gdLst/>
              <a:ahLst/>
              <a:cxnLst/>
              <a:rect l="l" t="t" r="r" b="b"/>
              <a:pathLst>
                <a:path w="1138325" h="242991">
                  <a:moveTo>
                    <a:pt x="121495" y="0"/>
                  </a:moveTo>
                  <a:lnTo>
                    <a:pt x="1016830" y="0"/>
                  </a:lnTo>
                  <a:cubicBezTo>
                    <a:pt x="1049053" y="0"/>
                    <a:pt x="1079955" y="12800"/>
                    <a:pt x="1102740" y="35585"/>
                  </a:cubicBezTo>
                  <a:cubicBezTo>
                    <a:pt x="1125525" y="58370"/>
                    <a:pt x="1138325" y="89273"/>
                    <a:pt x="1138325" y="121495"/>
                  </a:cubicBezTo>
                  <a:lnTo>
                    <a:pt x="1138325" y="121495"/>
                  </a:lnTo>
                  <a:cubicBezTo>
                    <a:pt x="1138325" y="153718"/>
                    <a:pt x="1125525" y="184621"/>
                    <a:pt x="1102740" y="207406"/>
                  </a:cubicBezTo>
                  <a:cubicBezTo>
                    <a:pt x="1079955" y="230190"/>
                    <a:pt x="1049053" y="242991"/>
                    <a:pt x="1016830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65" name="TextBox 65"/>
            <p:cNvSpPr txBox="1"/>
            <p:nvPr/>
          </p:nvSpPr>
          <p:spPr>
            <a:xfrm>
              <a:off x="0" y="-28575"/>
              <a:ext cx="1138325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284453" y="8206947"/>
            <a:ext cx="1009548" cy="923567"/>
            <a:chOff x="0" y="0"/>
            <a:chExt cx="265612" cy="242991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68" name="TextBox 68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746745" y="6934042"/>
            <a:ext cx="2027860" cy="742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2395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Camera motion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654279" y="7007248"/>
            <a:ext cx="744028" cy="48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3"/>
              </a:lnSpc>
            </a:pPr>
            <a:r>
              <a:rPr lang="en-US" sz="257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01.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6738093" y="6944451"/>
            <a:ext cx="2725468" cy="772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79"/>
              </a:lnSpc>
            </a:pPr>
            <a:r>
              <a:rPr lang="en-US" sz="2395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Varying lighting conditions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5645626" y="7037279"/>
            <a:ext cx="744028" cy="48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3"/>
              </a:lnSpc>
            </a:pPr>
            <a:r>
              <a:rPr lang="en-US" sz="257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02.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676551" y="8258023"/>
            <a:ext cx="2592042" cy="772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79"/>
              </a:lnSpc>
            </a:pPr>
            <a:r>
              <a:rPr lang="en-US" sz="2395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Cluttered backgrounds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66713" y="8369980"/>
            <a:ext cx="744028" cy="48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3"/>
              </a:lnSpc>
            </a:pPr>
            <a:r>
              <a:rPr lang="en-US" sz="257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03.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560642" y="8295208"/>
            <a:ext cx="2027860" cy="708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1"/>
              </a:lnSpc>
            </a:pPr>
            <a:r>
              <a:rPr lang="en-US" sz="2395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Fast-moving objects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5549973" y="8372267"/>
            <a:ext cx="744028" cy="48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3"/>
              </a:lnSpc>
            </a:pPr>
            <a:r>
              <a:rPr lang="en-US" sz="257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04.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388759" y="5762496"/>
            <a:ext cx="13722823" cy="644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spcBef>
                <a:spcPct val="0"/>
              </a:spcBef>
            </a:pPr>
            <a:endParaRPr/>
          </a:p>
          <a:p>
            <a:pPr algn="l">
              <a:lnSpc>
                <a:spcPts val="2296"/>
              </a:lnSpc>
              <a:spcBef>
                <a:spcPct val="0"/>
              </a:spcBef>
            </a:pPr>
            <a:r>
              <a:rPr lang="en-US" sz="2208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TRACKING BECOMES DIFFICULT DUE TO: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5470" y="7527050"/>
            <a:ext cx="2347925" cy="2360802"/>
          </a:xfrm>
          <a:custGeom>
            <a:avLst/>
            <a:gdLst/>
            <a:ahLst/>
            <a:cxnLst/>
            <a:rect l="l" t="t" r="r" b="b"/>
            <a:pathLst>
              <a:path w="2347925" h="2360802">
                <a:moveTo>
                  <a:pt x="0" y="0"/>
                </a:moveTo>
                <a:lnTo>
                  <a:pt x="2347926" y="0"/>
                </a:lnTo>
                <a:lnTo>
                  <a:pt x="2347926" y="2360802"/>
                </a:lnTo>
                <a:lnTo>
                  <a:pt x="0" y="23608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720795" y="338709"/>
            <a:ext cx="2373361" cy="2621182"/>
          </a:xfrm>
          <a:custGeom>
            <a:avLst/>
            <a:gdLst/>
            <a:ahLst/>
            <a:cxnLst/>
            <a:rect l="l" t="t" r="r" b="b"/>
            <a:pathLst>
              <a:path w="2373361" h="2621182">
                <a:moveTo>
                  <a:pt x="0" y="0"/>
                </a:moveTo>
                <a:lnTo>
                  <a:pt x="2373362" y="0"/>
                </a:lnTo>
                <a:lnTo>
                  <a:pt x="2373362" y="2621182"/>
                </a:lnTo>
                <a:lnTo>
                  <a:pt x="0" y="26211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17188" y="745749"/>
            <a:ext cx="9070970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PROJECT GOAL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-581878" y="5607167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05.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17188" y="4346008"/>
            <a:ext cx="11214485" cy="3914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9" lvl="1" indent="-334645" algn="l">
              <a:lnSpc>
                <a:spcPts val="619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WHICH ALGORITHM PERFORMS BEST IN EACH SCENARIO</a:t>
            </a:r>
          </a:p>
          <a:p>
            <a:pPr marL="669289" lvl="1" indent="-334645" algn="l">
              <a:lnSpc>
                <a:spcPts val="619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HOW SCENE CHARACTERISTICS AFFECT PERFORMANCE</a:t>
            </a:r>
          </a:p>
          <a:p>
            <a:pPr marL="669289" lvl="1" indent="-334645" algn="l">
              <a:lnSpc>
                <a:spcPts val="6199"/>
              </a:lnSpc>
              <a:buFont typeface="Arial"/>
              <a:buChar char="•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GUIDELINES FOR SELECTING THE RIGHT TRACKING METHOD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17188" y="2399001"/>
            <a:ext cx="10565759" cy="1805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49"/>
              </a:lnSpc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TO EVALUATE MULTIPLE MOTION TRACKING APPROACHES UNDER DIFFERENT SCENE CONDITIONS AND DETERMINE: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835657" y="309652"/>
            <a:ext cx="2347925" cy="2360802"/>
          </a:xfrm>
          <a:custGeom>
            <a:avLst/>
            <a:gdLst/>
            <a:ahLst/>
            <a:cxnLst/>
            <a:rect l="l" t="t" r="r" b="b"/>
            <a:pathLst>
              <a:path w="2347925" h="2360802">
                <a:moveTo>
                  <a:pt x="0" y="0"/>
                </a:moveTo>
                <a:lnTo>
                  <a:pt x="2347925" y="0"/>
                </a:lnTo>
                <a:lnTo>
                  <a:pt x="2347925" y="2360802"/>
                </a:lnTo>
                <a:lnTo>
                  <a:pt x="0" y="23608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27476" y="730797"/>
            <a:ext cx="9070970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PROPOSED SOLUTION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-581878" y="5607167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05.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27476" y="2883992"/>
            <a:ext cx="11768491" cy="6019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WE BUILT A MODULAR MULTI-OBJECT TRACKING SYSTEM USING:</a:t>
            </a:r>
          </a:p>
          <a:p>
            <a:pPr marL="647698" lvl="1" indent="-323849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MOG2 (BACKGROUND SUBTRACTION)</a:t>
            </a:r>
          </a:p>
          <a:p>
            <a:pPr marL="647698" lvl="1" indent="-323849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GMG (BAYESIAN BACKGROUND MODEL)</a:t>
            </a:r>
          </a:p>
          <a:p>
            <a:pPr marL="647698" lvl="1" indent="-323849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YOLOV8 (DEEP-LEARNING DETECTOR)</a:t>
            </a:r>
          </a:p>
          <a:p>
            <a:pPr marL="647698" lvl="1" indent="-323849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KALMAN FILTER (STATE PREDICTION)</a:t>
            </a:r>
          </a:p>
          <a:p>
            <a:pPr marL="647698" lvl="1" indent="-323849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HUNGARIAN ALGORITHM (OBJECT ASSIGNMENT)</a:t>
            </a:r>
          </a:p>
          <a:p>
            <a:pPr marL="647698" lvl="1" indent="-323849" algn="l">
              <a:lnSpc>
                <a:spcPts val="59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HSV HISTOGRAM RE-ID (IDENTITY RECOVERY)</a:t>
            </a:r>
          </a:p>
          <a:p>
            <a:pPr algn="l">
              <a:lnSpc>
                <a:spcPts val="5999"/>
              </a:lnSpc>
            </a:pPr>
            <a:endParaRPr lang="en-US" sz="29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427476" y="2244373"/>
            <a:ext cx="5156109" cy="1270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OUR TRACKING PIPELINE</a:t>
            </a:r>
          </a:p>
          <a:p>
            <a:pPr algn="l">
              <a:lnSpc>
                <a:spcPts val="311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311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3443885" y="5094798"/>
            <a:ext cx="5048616" cy="5048616"/>
          </a:xfrm>
          <a:custGeom>
            <a:avLst/>
            <a:gdLst/>
            <a:ahLst/>
            <a:cxnLst/>
            <a:rect l="l" t="t" r="r" b="b"/>
            <a:pathLst>
              <a:path w="5048616" h="5048616">
                <a:moveTo>
                  <a:pt x="0" y="0"/>
                </a:moveTo>
                <a:lnTo>
                  <a:pt x="5048616" y="0"/>
                </a:lnTo>
                <a:lnTo>
                  <a:pt x="5048616" y="5048616"/>
                </a:lnTo>
                <a:lnTo>
                  <a:pt x="0" y="50486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4169604" y="6661061"/>
            <a:ext cx="3355672" cy="1763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MACHINE LEARNING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27476" y="3269035"/>
            <a:ext cx="11027107" cy="7038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8" lvl="1" indent="-334644" algn="l">
              <a:lnSpc>
                <a:spcPts val="6199"/>
              </a:lnSpc>
              <a:buAutoNum type="arabicPeriod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VIDEO INPUT</a:t>
            </a:r>
          </a:p>
          <a:p>
            <a:pPr marL="669288" lvl="1" indent="-334644" algn="l">
              <a:lnSpc>
                <a:spcPts val="6199"/>
              </a:lnSpc>
              <a:buAutoNum type="arabicPeriod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CAMERA STABILIZATION</a:t>
            </a:r>
          </a:p>
          <a:p>
            <a:pPr marL="669288" lvl="1" indent="-334644" algn="l">
              <a:lnSpc>
                <a:spcPts val="6199"/>
              </a:lnSpc>
              <a:buAutoNum type="arabicPeriod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OBJECT DETECTION</a:t>
            </a:r>
          </a:p>
          <a:p>
            <a:pPr marL="669288" lvl="1" indent="-334644" algn="l">
              <a:lnSpc>
                <a:spcPts val="6199"/>
              </a:lnSpc>
              <a:buAutoNum type="arabicPeriod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WARMUP GUARD</a:t>
            </a:r>
          </a:p>
          <a:p>
            <a:pPr marL="669288" lvl="1" indent="-334644" algn="l">
              <a:lnSpc>
                <a:spcPts val="6199"/>
              </a:lnSpc>
              <a:buAutoNum type="arabicPeriod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TRACKING WITH KALMAN + HUNGARIAN</a:t>
            </a:r>
          </a:p>
          <a:p>
            <a:pPr marL="669288" lvl="1" indent="-334644" algn="l">
              <a:lnSpc>
                <a:spcPts val="6199"/>
              </a:lnSpc>
              <a:buAutoNum type="arabicPeriod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RE-IDENTIFICATION</a:t>
            </a:r>
          </a:p>
          <a:p>
            <a:pPr marL="669288" lvl="1" indent="-334644" algn="l">
              <a:lnSpc>
                <a:spcPts val="6199"/>
              </a:lnSpc>
              <a:buAutoNum type="arabicPeriod"/>
            </a:pPr>
            <a:r>
              <a:rPr lang="en-US" sz="30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EVALUATION &amp; OUTPUT</a:t>
            </a:r>
          </a:p>
          <a:p>
            <a:pPr algn="l">
              <a:lnSpc>
                <a:spcPts val="619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6199"/>
              </a:lnSpc>
            </a:pPr>
            <a:endParaRPr lang="en-US" sz="30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14068782" y="592689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27476" y="730797"/>
            <a:ext cx="9070970" cy="2629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SYSTEM WORKFLOW</a:t>
            </a:r>
          </a:p>
          <a:p>
            <a:pPr algn="l">
              <a:lnSpc>
                <a:spcPts val="6875"/>
              </a:lnSpc>
            </a:pPr>
            <a:endParaRPr lang="en-US" sz="6610">
              <a:solidFill>
                <a:srgbClr val="050056"/>
              </a:solidFill>
              <a:latin typeface="Anton"/>
              <a:ea typeface="Anton"/>
              <a:cs typeface="Anton"/>
              <a:sym typeface="Anton"/>
            </a:endParaRPr>
          </a:p>
          <a:p>
            <a:pPr algn="l">
              <a:lnSpc>
                <a:spcPts val="6875"/>
              </a:lnSpc>
            </a:pPr>
            <a:endParaRPr lang="en-US" sz="6610">
              <a:solidFill>
                <a:srgbClr val="050056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-581878" y="5607167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05.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97107" y="2568655"/>
            <a:ext cx="4900394" cy="51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END-TO-END PIPELINE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2438739" y="3469795"/>
            <a:ext cx="4144557" cy="989754"/>
            <a:chOff x="0" y="0"/>
            <a:chExt cx="1017514" cy="2429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17514" cy="242991"/>
            </a:xfrm>
            <a:custGeom>
              <a:avLst/>
              <a:gdLst/>
              <a:ahLst/>
              <a:cxnLst/>
              <a:rect l="l" t="t" r="r" b="b"/>
              <a:pathLst>
                <a:path w="1017514" h="242991">
                  <a:moveTo>
                    <a:pt x="121495" y="0"/>
                  </a:moveTo>
                  <a:lnTo>
                    <a:pt x="896019" y="0"/>
                  </a:lnTo>
                  <a:cubicBezTo>
                    <a:pt x="928241" y="0"/>
                    <a:pt x="959144" y="12800"/>
                    <a:pt x="981929" y="35585"/>
                  </a:cubicBezTo>
                  <a:cubicBezTo>
                    <a:pt x="1004714" y="58370"/>
                    <a:pt x="1017514" y="89273"/>
                    <a:pt x="1017514" y="121495"/>
                  </a:cubicBezTo>
                  <a:lnTo>
                    <a:pt x="1017514" y="121495"/>
                  </a:lnTo>
                  <a:cubicBezTo>
                    <a:pt x="1017514" y="153718"/>
                    <a:pt x="1004714" y="184621"/>
                    <a:pt x="981929" y="207406"/>
                  </a:cubicBezTo>
                  <a:cubicBezTo>
                    <a:pt x="959144" y="230190"/>
                    <a:pt x="928241" y="242991"/>
                    <a:pt x="896019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017514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3894046" y="3635879"/>
            <a:ext cx="3399255" cy="487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YOLOv8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5053523"/>
            <a:ext cx="5755381" cy="3303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Fast and efficient</a:t>
            </a:r>
          </a:p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Best for static cameras</a:t>
            </a:r>
          </a:p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Works well with clean backgrounds</a:t>
            </a:r>
          </a:p>
          <a:p>
            <a:pPr algn="l">
              <a:lnSpc>
                <a:spcPts val="4154"/>
              </a:lnSpc>
            </a:pPr>
            <a:endParaRPr lang="en-US" sz="3100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2438739" y="3469795"/>
            <a:ext cx="1081897" cy="989754"/>
            <a:chOff x="0" y="0"/>
            <a:chExt cx="265612" cy="24299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723287" y="3644947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03.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7476" y="730797"/>
            <a:ext cx="7278507" cy="896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64"/>
              </a:lnSpc>
            </a:pPr>
            <a:r>
              <a:rPr lang="en-US" sz="660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DETECTOR COMPARISON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27476" y="2172002"/>
            <a:ext cx="10104830" cy="51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DETECTION METHODS USED: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252612" y="3483731"/>
            <a:ext cx="4144557" cy="989754"/>
            <a:chOff x="0" y="0"/>
            <a:chExt cx="1017514" cy="24299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17514" cy="242991"/>
            </a:xfrm>
            <a:custGeom>
              <a:avLst/>
              <a:gdLst/>
              <a:ahLst/>
              <a:cxnLst/>
              <a:rect l="l" t="t" r="r" b="b"/>
              <a:pathLst>
                <a:path w="1017514" h="242991">
                  <a:moveTo>
                    <a:pt x="121495" y="0"/>
                  </a:moveTo>
                  <a:lnTo>
                    <a:pt x="896019" y="0"/>
                  </a:lnTo>
                  <a:cubicBezTo>
                    <a:pt x="928241" y="0"/>
                    <a:pt x="959144" y="12800"/>
                    <a:pt x="981929" y="35585"/>
                  </a:cubicBezTo>
                  <a:cubicBezTo>
                    <a:pt x="1004714" y="58370"/>
                    <a:pt x="1017514" y="89273"/>
                    <a:pt x="1017514" y="121495"/>
                  </a:cubicBezTo>
                  <a:lnTo>
                    <a:pt x="1017514" y="121495"/>
                  </a:lnTo>
                  <a:cubicBezTo>
                    <a:pt x="1017514" y="153718"/>
                    <a:pt x="1004714" y="184621"/>
                    <a:pt x="981929" y="207406"/>
                  </a:cubicBezTo>
                  <a:cubicBezTo>
                    <a:pt x="959144" y="230190"/>
                    <a:pt x="928241" y="242991"/>
                    <a:pt x="896019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17514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7705983" y="3682345"/>
            <a:ext cx="3399255" cy="487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GMG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94889" y="4905375"/>
            <a:ext cx="5755381" cy="2708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High accuracy</a:t>
            </a:r>
          </a:p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Handles moving cameras &amp; multiple classes</a:t>
            </a:r>
          </a:p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Computationally expensive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6252612" y="3483731"/>
            <a:ext cx="1081897" cy="989754"/>
            <a:chOff x="0" y="0"/>
            <a:chExt cx="265612" cy="24299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1" name="TextBox 21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537160" y="3644947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02.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336909" y="3444643"/>
            <a:ext cx="4144557" cy="989754"/>
            <a:chOff x="0" y="0"/>
            <a:chExt cx="1017514" cy="24299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17514" cy="242991"/>
            </a:xfrm>
            <a:custGeom>
              <a:avLst/>
              <a:gdLst/>
              <a:ahLst/>
              <a:cxnLst/>
              <a:rect l="l" t="t" r="r" b="b"/>
              <a:pathLst>
                <a:path w="1017514" h="242991">
                  <a:moveTo>
                    <a:pt x="121495" y="0"/>
                  </a:moveTo>
                  <a:lnTo>
                    <a:pt x="896019" y="0"/>
                  </a:lnTo>
                  <a:cubicBezTo>
                    <a:pt x="928241" y="0"/>
                    <a:pt x="959144" y="12800"/>
                    <a:pt x="981929" y="35585"/>
                  </a:cubicBezTo>
                  <a:cubicBezTo>
                    <a:pt x="1004714" y="58370"/>
                    <a:pt x="1017514" y="89273"/>
                    <a:pt x="1017514" y="121495"/>
                  </a:cubicBezTo>
                  <a:lnTo>
                    <a:pt x="1017514" y="121495"/>
                  </a:lnTo>
                  <a:cubicBezTo>
                    <a:pt x="1017514" y="153718"/>
                    <a:pt x="1004714" y="184621"/>
                    <a:pt x="981929" y="207406"/>
                  </a:cubicBezTo>
                  <a:cubicBezTo>
                    <a:pt x="959144" y="230190"/>
                    <a:pt x="928241" y="242991"/>
                    <a:pt x="896019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1017514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806024" y="3657194"/>
            <a:ext cx="3399255" cy="487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MOG2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937364" y="4905375"/>
            <a:ext cx="5755381" cy="3969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Sharper segmentation</a:t>
            </a:r>
          </a:p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Better for textured backgrounds</a:t>
            </a:r>
          </a:p>
          <a:p>
            <a:pPr marL="669291" lvl="1" indent="-334646" algn="l">
              <a:lnSpc>
                <a:spcPts val="5270"/>
              </a:lnSpc>
              <a:buFont typeface="Arial"/>
              <a:buChar char="•"/>
            </a:pPr>
            <a:r>
              <a:rPr lang="en-US" sz="3100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Requires warmup time</a:t>
            </a:r>
          </a:p>
          <a:p>
            <a:pPr algn="l">
              <a:lnSpc>
                <a:spcPts val="5270"/>
              </a:lnSpc>
            </a:pPr>
            <a:endParaRPr lang="en-US" sz="3100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154"/>
              </a:lnSpc>
            </a:pPr>
            <a:endParaRPr lang="en-US" sz="3100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336909" y="3444643"/>
            <a:ext cx="1081897" cy="989754"/>
            <a:chOff x="0" y="0"/>
            <a:chExt cx="265612" cy="24299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621457" y="3619795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01.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8730" y="2773178"/>
            <a:ext cx="4144557" cy="989754"/>
            <a:chOff x="0" y="0"/>
            <a:chExt cx="1017514" cy="2429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17514" cy="242991"/>
            </a:xfrm>
            <a:custGeom>
              <a:avLst/>
              <a:gdLst/>
              <a:ahLst/>
              <a:cxnLst/>
              <a:rect l="l" t="t" r="r" b="b"/>
              <a:pathLst>
                <a:path w="1017514" h="242991">
                  <a:moveTo>
                    <a:pt x="121495" y="0"/>
                  </a:moveTo>
                  <a:lnTo>
                    <a:pt x="896019" y="0"/>
                  </a:lnTo>
                  <a:cubicBezTo>
                    <a:pt x="928241" y="0"/>
                    <a:pt x="959144" y="12800"/>
                    <a:pt x="981929" y="35585"/>
                  </a:cubicBezTo>
                  <a:cubicBezTo>
                    <a:pt x="1004714" y="58370"/>
                    <a:pt x="1017514" y="89273"/>
                    <a:pt x="1017514" y="121495"/>
                  </a:cubicBezTo>
                  <a:lnTo>
                    <a:pt x="1017514" y="121495"/>
                  </a:lnTo>
                  <a:cubicBezTo>
                    <a:pt x="1017514" y="153718"/>
                    <a:pt x="1004714" y="184621"/>
                    <a:pt x="981929" y="207406"/>
                  </a:cubicBezTo>
                  <a:cubicBezTo>
                    <a:pt x="959144" y="230190"/>
                    <a:pt x="928241" y="242991"/>
                    <a:pt x="896019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017514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0583" y="2773178"/>
            <a:ext cx="1081897" cy="989754"/>
            <a:chOff x="0" y="0"/>
            <a:chExt cx="265612" cy="24299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38730" y="6097916"/>
            <a:ext cx="4548263" cy="989754"/>
            <a:chOff x="0" y="0"/>
            <a:chExt cx="1116626" cy="24299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16626" cy="242991"/>
            </a:xfrm>
            <a:custGeom>
              <a:avLst/>
              <a:gdLst/>
              <a:ahLst/>
              <a:cxnLst/>
              <a:rect l="l" t="t" r="r" b="b"/>
              <a:pathLst>
                <a:path w="1116626" h="242991">
                  <a:moveTo>
                    <a:pt x="121495" y="0"/>
                  </a:moveTo>
                  <a:lnTo>
                    <a:pt x="995131" y="0"/>
                  </a:lnTo>
                  <a:cubicBezTo>
                    <a:pt x="1062231" y="0"/>
                    <a:pt x="1116626" y="54395"/>
                    <a:pt x="1116626" y="121495"/>
                  </a:cubicBezTo>
                  <a:lnTo>
                    <a:pt x="1116626" y="121495"/>
                  </a:lnTo>
                  <a:cubicBezTo>
                    <a:pt x="1116626" y="153718"/>
                    <a:pt x="1103826" y="184621"/>
                    <a:pt x="1081041" y="207406"/>
                  </a:cubicBezTo>
                  <a:cubicBezTo>
                    <a:pt x="1058256" y="230190"/>
                    <a:pt x="1027353" y="242991"/>
                    <a:pt x="995131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116626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30583" y="6097916"/>
            <a:ext cx="1081897" cy="989754"/>
            <a:chOff x="0" y="0"/>
            <a:chExt cx="265612" cy="24299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177757" y="2750286"/>
            <a:ext cx="4144557" cy="989754"/>
            <a:chOff x="0" y="0"/>
            <a:chExt cx="1017514" cy="24299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17514" cy="242991"/>
            </a:xfrm>
            <a:custGeom>
              <a:avLst/>
              <a:gdLst/>
              <a:ahLst/>
              <a:cxnLst/>
              <a:rect l="l" t="t" r="r" b="b"/>
              <a:pathLst>
                <a:path w="1017514" h="242991">
                  <a:moveTo>
                    <a:pt x="121495" y="0"/>
                  </a:moveTo>
                  <a:lnTo>
                    <a:pt x="896019" y="0"/>
                  </a:lnTo>
                  <a:cubicBezTo>
                    <a:pt x="928241" y="0"/>
                    <a:pt x="959144" y="12800"/>
                    <a:pt x="981929" y="35585"/>
                  </a:cubicBezTo>
                  <a:cubicBezTo>
                    <a:pt x="1004714" y="58370"/>
                    <a:pt x="1017514" y="89273"/>
                    <a:pt x="1017514" y="121495"/>
                  </a:cubicBezTo>
                  <a:lnTo>
                    <a:pt x="1017514" y="121495"/>
                  </a:lnTo>
                  <a:cubicBezTo>
                    <a:pt x="1017514" y="153718"/>
                    <a:pt x="1004714" y="184621"/>
                    <a:pt x="981929" y="207406"/>
                  </a:cubicBezTo>
                  <a:cubicBezTo>
                    <a:pt x="959144" y="230190"/>
                    <a:pt x="928241" y="242991"/>
                    <a:pt x="896019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C2756">
                    <a:alpha val="100000"/>
                  </a:srgbClr>
                </a:gs>
                <a:gs pos="100000">
                  <a:srgbClr val="1E527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017514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77757" y="2750286"/>
            <a:ext cx="1081897" cy="989754"/>
            <a:chOff x="0" y="0"/>
            <a:chExt cx="265612" cy="24299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65612" cy="242991"/>
            </a:xfrm>
            <a:custGeom>
              <a:avLst/>
              <a:gdLst/>
              <a:ahLst/>
              <a:cxnLst/>
              <a:rect l="l" t="t" r="r" b="b"/>
              <a:pathLst>
                <a:path w="265612" h="242991">
                  <a:moveTo>
                    <a:pt x="121495" y="0"/>
                  </a:moveTo>
                  <a:lnTo>
                    <a:pt x="144117" y="0"/>
                  </a:lnTo>
                  <a:cubicBezTo>
                    <a:pt x="211217" y="0"/>
                    <a:pt x="265612" y="54395"/>
                    <a:pt x="265612" y="121495"/>
                  </a:cubicBezTo>
                  <a:lnTo>
                    <a:pt x="265612" y="121495"/>
                  </a:lnTo>
                  <a:cubicBezTo>
                    <a:pt x="265612" y="153718"/>
                    <a:pt x="252812" y="184621"/>
                    <a:pt x="230027" y="207406"/>
                  </a:cubicBezTo>
                  <a:cubicBezTo>
                    <a:pt x="207242" y="230190"/>
                    <a:pt x="176340" y="242991"/>
                    <a:pt x="144117" y="242991"/>
                  </a:cubicBezTo>
                  <a:lnTo>
                    <a:pt x="121495" y="242991"/>
                  </a:lnTo>
                  <a:cubicBezTo>
                    <a:pt x="89273" y="242991"/>
                    <a:pt x="58370" y="230190"/>
                    <a:pt x="35585" y="207406"/>
                  </a:cubicBezTo>
                  <a:cubicBezTo>
                    <a:pt x="12800" y="184621"/>
                    <a:pt x="0" y="153718"/>
                    <a:pt x="0" y="121495"/>
                  </a:cubicBezTo>
                  <a:lnTo>
                    <a:pt x="0" y="121495"/>
                  </a:lnTo>
                  <a:cubicBezTo>
                    <a:pt x="0" y="89273"/>
                    <a:pt x="12800" y="58370"/>
                    <a:pt x="35585" y="35585"/>
                  </a:cubicBezTo>
                  <a:cubicBezTo>
                    <a:pt x="58370" y="12800"/>
                    <a:pt x="89273" y="0"/>
                    <a:pt x="1214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B3FF">
                    <a:alpha val="100000"/>
                  </a:srgbClr>
                </a:gs>
                <a:gs pos="100000">
                  <a:srgbClr val="3A459B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265612" cy="271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6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5178115" y="191433"/>
            <a:ext cx="4162370" cy="4114800"/>
          </a:xfrm>
          <a:custGeom>
            <a:avLst/>
            <a:gdLst/>
            <a:ahLst/>
            <a:cxnLst/>
            <a:rect l="l" t="t" r="r" b="b"/>
            <a:pathLst>
              <a:path w="4162370" h="4114800">
                <a:moveTo>
                  <a:pt x="0" y="0"/>
                </a:moveTo>
                <a:lnTo>
                  <a:pt x="4162370" y="0"/>
                </a:lnTo>
                <a:lnTo>
                  <a:pt x="41623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298589" y="1829045"/>
            <a:ext cx="6275983" cy="51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CORE TRACKING TECHNIQUES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5267" y="550206"/>
            <a:ext cx="10447093" cy="892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TRACKING &amp; RE-IDENTIFICATION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774118" y="2957856"/>
            <a:ext cx="2173187" cy="487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Kalman Filter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38730" y="3895186"/>
            <a:ext cx="6354200" cy="269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Predicts object movement across frames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Handles temporary detection loss</a:t>
            </a:r>
          </a:p>
          <a:p>
            <a:pPr algn="l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615131" y="2948331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01.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437562" y="6381865"/>
            <a:ext cx="3354399" cy="785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4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Hungarian Algorithm</a:t>
            </a:r>
          </a:p>
          <a:p>
            <a:pPr algn="l">
              <a:lnSpc>
                <a:spcPts val="2824"/>
              </a:lnSpc>
            </a:pPr>
            <a:endParaRPr lang="en-US" sz="2567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355665" y="7300296"/>
            <a:ext cx="5233100" cy="269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Matches detections to predicted tracks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Minimizes assignment cost</a:t>
            </a:r>
          </a:p>
          <a:p>
            <a:pPr algn="l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640213" y="6273068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02.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032807" y="3895186"/>
            <a:ext cx="6089281" cy="269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Restores identity after occlusion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Uses color histogram similarity</a:t>
            </a:r>
          </a:p>
          <a:p>
            <a:pPr algn="l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9462306" y="2925438"/>
            <a:ext cx="797349" cy="52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0"/>
              </a:lnSpc>
            </a:pPr>
            <a:r>
              <a:rPr lang="en-US" sz="2754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03.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437628" y="3050209"/>
            <a:ext cx="2173187" cy="43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4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HSV Re-ID</a:t>
            </a:r>
          </a:p>
        </p:txBody>
      </p:sp>
      <p:sp>
        <p:nvSpPr>
          <p:cNvPr id="33" name="Freeform 33"/>
          <p:cNvSpPr/>
          <p:nvPr/>
        </p:nvSpPr>
        <p:spPr>
          <a:xfrm>
            <a:off x="15594249" y="7200900"/>
            <a:ext cx="4162370" cy="4114800"/>
          </a:xfrm>
          <a:custGeom>
            <a:avLst/>
            <a:gdLst/>
            <a:ahLst/>
            <a:cxnLst/>
            <a:rect l="l" t="t" r="r" b="b"/>
            <a:pathLst>
              <a:path w="4162370" h="4114800">
                <a:moveTo>
                  <a:pt x="0" y="0"/>
                </a:moveTo>
                <a:lnTo>
                  <a:pt x="4162370" y="0"/>
                </a:lnTo>
                <a:lnTo>
                  <a:pt x="41623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03133" y="4788711"/>
            <a:ext cx="8089589" cy="4125690"/>
          </a:xfrm>
          <a:custGeom>
            <a:avLst/>
            <a:gdLst/>
            <a:ahLst/>
            <a:cxnLst/>
            <a:rect l="l" t="t" r="r" b="b"/>
            <a:pathLst>
              <a:path w="8089589" h="4125690">
                <a:moveTo>
                  <a:pt x="0" y="0"/>
                </a:moveTo>
                <a:lnTo>
                  <a:pt x="8089589" y="0"/>
                </a:lnTo>
                <a:lnTo>
                  <a:pt x="8089589" y="4125690"/>
                </a:lnTo>
                <a:lnTo>
                  <a:pt x="0" y="41256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787473" y="1480504"/>
            <a:ext cx="10362359" cy="5297756"/>
          </a:xfrm>
          <a:custGeom>
            <a:avLst/>
            <a:gdLst/>
            <a:ahLst/>
            <a:cxnLst/>
            <a:rect l="l" t="t" r="r" b="b"/>
            <a:pathLst>
              <a:path w="10362359" h="5297756">
                <a:moveTo>
                  <a:pt x="0" y="0"/>
                </a:moveTo>
                <a:lnTo>
                  <a:pt x="10362358" y="0"/>
                </a:lnTo>
                <a:lnTo>
                  <a:pt x="10362358" y="5297756"/>
                </a:lnTo>
                <a:lnTo>
                  <a:pt x="0" y="52977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-538164" y="981075"/>
            <a:ext cx="6275983" cy="51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 ADVANTAGES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95267" y="178262"/>
            <a:ext cx="17455831" cy="538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1"/>
              </a:lnSpc>
            </a:pPr>
            <a:r>
              <a:rPr lang="en-US" sz="40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TRADITIONAL BACKGROUND SUBTRACTION (GMG, MOG2)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774118" y="2957856"/>
            <a:ext cx="2173187" cy="487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Kalman Filter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15917" y="1569154"/>
            <a:ext cx="7171556" cy="2560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8"/>
              </a:lnSpc>
            </a:pPr>
            <a:r>
              <a:rPr lang="en-US" sz="2798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1.Lightweight and fast (low computational cost)</a:t>
            </a:r>
          </a:p>
          <a:p>
            <a:pPr algn="l">
              <a:lnSpc>
                <a:spcPts val="3750"/>
              </a:lnSpc>
            </a:pPr>
            <a:r>
              <a:rPr lang="en-US" sz="2798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2.No training required </a:t>
            </a:r>
          </a:p>
          <a:p>
            <a:pPr algn="l">
              <a:lnSpc>
                <a:spcPts val="3750"/>
              </a:lnSpc>
            </a:pPr>
            <a:r>
              <a:rPr lang="en-US" sz="2798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3.Works well in static scenes </a:t>
            </a:r>
          </a:p>
          <a:p>
            <a:pPr algn="l">
              <a:lnSpc>
                <a:spcPts val="3750"/>
              </a:lnSpc>
            </a:pPr>
            <a:r>
              <a:rPr lang="en-US" sz="2798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4.Easy to implement (e.g., OpenCV)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4781" y="9229725"/>
            <a:ext cx="7159791" cy="370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2"/>
              </a:lnSpc>
              <a:spcBef>
                <a:spcPct val="0"/>
              </a:spcBef>
            </a:pPr>
            <a:r>
              <a:rPr lang="en-US" sz="23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BOUNCING DVD TRACKING TEST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88756" y="7144946"/>
            <a:ext cx="7159791" cy="370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2"/>
              </a:lnSpc>
              <a:spcBef>
                <a:spcPct val="0"/>
              </a:spcBef>
            </a:pPr>
            <a:r>
              <a:rPr lang="en-US" sz="23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AIM LAB DYNAMIC TARGET TRACKING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678404" y="868701"/>
            <a:ext cx="6744131" cy="3880538"/>
          </a:xfrm>
          <a:custGeom>
            <a:avLst/>
            <a:gdLst/>
            <a:ahLst/>
            <a:cxnLst/>
            <a:rect l="l" t="t" r="r" b="b"/>
            <a:pathLst>
              <a:path w="6744131" h="3880538">
                <a:moveTo>
                  <a:pt x="0" y="0"/>
                </a:moveTo>
                <a:lnTo>
                  <a:pt x="6744131" y="0"/>
                </a:lnTo>
                <a:lnTo>
                  <a:pt x="6744131" y="3880538"/>
                </a:lnTo>
                <a:lnTo>
                  <a:pt x="0" y="38805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5179" b="-5179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559408" y="5275036"/>
            <a:ext cx="6982122" cy="3983264"/>
          </a:xfrm>
          <a:custGeom>
            <a:avLst/>
            <a:gdLst/>
            <a:ahLst/>
            <a:cxnLst/>
            <a:rect l="l" t="t" r="r" b="b"/>
            <a:pathLst>
              <a:path w="6982122" h="3983264">
                <a:moveTo>
                  <a:pt x="0" y="0"/>
                </a:moveTo>
                <a:lnTo>
                  <a:pt x="6982122" y="0"/>
                </a:lnTo>
                <a:lnTo>
                  <a:pt x="6982122" y="3983264"/>
                </a:lnTo>
                <a:lnTo>
                  <a:pt x="0" y="39832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5982" b="-5982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-231166" y="981075"/>
            <a:ext cx="6275983" cy="51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 DRAWBACKS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95267" y="178262"/>
            <a:ext cx="17455831" cy="538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1"/>
              </a:lnSpc>
            </a:pPr>
            <a:r>
              <a:rPr lang="en-US" sz="40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TRADITIONAL BACKGROUND SUBTRACTION (GMG, MOG2)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774118" y="2957856"/>
            <a:ext cx="2173187" cy="487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Kalman Filter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9449" y="1586709"/>
            <a:ext cx="7755711" cy="729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36"/>
              </a:lnSpc>
            </a:pPr>
            <a:r>
              <a:rPr lang="en-US" sz="3026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Struggles with :</a:t>
            </a:r>
          </a:p>
          <a:p>
            <a:pPr marL="653473" lvl="1" indent="-326737" algn="l">
              <a:lnSpc>
                <a:spcPts val="5236"/>
              </a:lnSpc>
              <a:buFont typeface="Arial"/>
              <a:buChar char="•"/>
            </a:pPr>
            <a:r>
              <a:rPr lang="en-US" sz="3026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Fast-moving objects (motion blur, missed detections)</a:t>
            </a:r>
          </a:p>
          <a:p>
            <a:pPr marL="653473" lvl="1" indent="-326737" algn="l">
              <a:lnSpc>
                <a:spcPts val="5236"/>
              </a:lnSpc>
              <a:buFont typeface="Arial"/>
              <a:buChar char="•"/>
            </a:pPr>
            <a:r>
              <a:rPr lang="en-US" sz="3026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Multiple objects (merging / fragmentation)</a:t>
            </a:r>
          </a:p>
          <a:p>
            <a:pPr marL="653473" lvl="1" indent="-326737" algn="l">
              <a:lnSpc>
                <a:spcPts val="5236"/>
              </a:lnSpc>
              <a:buFont typeface="Arial"/>
              <a:buChar char="•"/>
            </a:pPr>
            <a:r>
              <a:rPr lang="en-US" sz="3026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Lighting changes (shadows, reflections)</a:t>
            </a:r>
          </a:p>
          <a:p>
            <a:pPr marL="653473" lvl="1" indent="-326737" algn="l">
              <a:lnSpc>
                <a:spcPts val="5236"/>
              </a:lnSpc>
              <a:buFont typeface="Arial"/>
              <a:buChar char="•"/>
            </a:pPr>
            <a:r>
              <a:rPr lang="en-US" sz="3026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Detects only motion, not object type</a:t>
            </a:r>
          </a:p>
          <a:p>
            <a:pPr marL="653473" lvl="1" indent="-326737" algn="l">
              <a:lnSpc>
                <a:spcPts val="5236"/>
              </a:lnSpc>
              <a:buFont typeface="Arial"/>
              <a:buChar char="•"/>
            </a:pPr>
            <a:r>
              <a:rPr lang="en-US" sz="3026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High false positives (noise, background movement)</a:t>
            </a:r>
          </a:p>
          <a:p>
            <a:pPr marL="653473" lvl="1" indent="-326737" algn="l">
              <a:lnSpc>
                <a:spcPts val="5236"/>
              </a:lnSpc>
              <a:buFont typeface="Arial"/>
              <a:buChar char="•"/>
            </a:pPr>
            <a:r>
              <a:rPr lang="en-US" sz="3026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Poor tracking consistency (IDs unstable or missing)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181126" y="9531350"/>
            <a:ext cx="7159791" cy="370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2"/>
              </a:lnSpc>
              <a:spcBef>
                <a:spcPct val="0"/>
              </a:spcBef>
            </a:pPr>
            <a:r>
              <a:rPr lang="en-US" sz="23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PEDESTRIAN MOVEMENT TEST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81126" y="4873064"/>
            <a:ext cx="7159791" cy="370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2"/>
              </a:lnSpc>
              <a:spcBef>
                <a:spcPct val="0"/>
              </a:spcBef>
            </a:pPr>
            <a:r>
              <a:rPr lang="en-US" sz="2300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FOOTBALL JUGGLING MOTION TEST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908037"/>
            <a:ext cx="6275983" cy="51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 ADVANTAGES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95267" y="178262"/>
            <a:ext cx="17455831" cy="538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1"/>
              </a:lnSpc>
            </a:pPr>
            <a:r>
              <a:rPr lang="en-US" sz="40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YOLOV8 (DEEP LEARNING OBJECT DETECTION)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74118" y="2957856"/>
            <a:ext cx="2173187" cy="487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0"/>
              </a:lnSpc>
            </a:pPr>
            <a:r>
              <a:rPr lang="en-US" sz="2567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Kalman Filter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4000" y="3409516"/>
            <a:ext cx="8661186" cy="3343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Requires training (data + time)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Higher computational cost (GPU preferred)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More complex setup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Model size and inference latency 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considerations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127342" y="1908037"/>
            <a:ext cx="6275983" cy="51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TRADEOFFS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82814" y="3409516"/>
            <a:ext cx="8661186" cy="3886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Detects multiple objects reliably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Handles fast motion much better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Classifies objects (person, car, etc.)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Robust to lighting changes and noise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Works in dynamic environments</a:t>
            </a:r>
          </a:p>
          <a:p>
            <a:pPr marL="690877" lvl="1" indent="-345439" algn="l">
              <a:lnSpc>
                <a:spcPts val="4287"/>
              </a:lnSpc>
              <a:buFont typeface="Arial"/>
              <a:buChar char="•"/>
            </a:pPr>
            <a:r>
              <a:rPr lang="en-US" sz="31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Better tracking when combined with trackers (e.g., DeepSORT)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92978" y="2979508"/>
            <a:ext cx="5815843" cy="4800714"/>
          </a:xfrm>
          <a:custGeom>
            <a:avLst/>
            <a:gdLst/>
            <a:ahLst/>
            <a:cxnLst/>
            <a:rect l="l" t="t" r="r" b="b"/>
            <a:pathLst>
              <a:path w="5815843" h="4800714">
                <a:moveTo>
                  <a:pt x="0" y="0"/>
                </a:moveTo>
                <a:lnTo>
                  <a:pt x="5815843" y="0"/>
                </a:lnTo>
                <a:lnTo>
                  <a:pt x="5815843" y="4800714"/>
                </a:lnTo>
                <a:lnTo>
                  <a:pt x="0" y="48007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733357" y="1000125"/>
            <a:ext cx="4392657" cy="336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2045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THYNK UNLIMITED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53766" y="440625"/>
            <a:ext cx="7875700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EXPERIMENTAL SETUP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7472" y="2484049"/>
            <a:ext cx="8896528" cy="32214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10 video sequences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Diverse conditions: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Static / moving cameras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Single / multiple objects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Clean / cluttered backgrounds</a:t>
            </a:r>
          </a:p>
          <a:p>
            <a:pPr algn="l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19957" y="1995699"/>
            <a:ext cx="4921517" cy="91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DATASET &amp; EVALUATION</a:t>
            </a:r>
          </a:p>
          <a:p>
            <a:pPr algn="ctr">
              <a:lnSpc>
                <a:spcPts val="3223"/>
              </a:lnSpc>
              <a:spcBef>
                <a:spcPct val="0"/>
              </a:spcBef>
            </a:pPr>
            <a:endParaRPr lang="en-US" sz="3099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19957" y="5548483"/>
            <a:ext cx="4608265" cy="910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3"/>
              </a:lnSpc>
              <a:spcBef>
                <a:spcPct val="0"/>
              </a:spcBef>
            </a:pPr>
            <a:r>
              <a:rPr lang="en-US" sz="3099" b="1">
                <a:solidFill>
                  <a:srgbClr val="000000"/>
                </a:solidFill>
                <a:latin typeface="Agrandir Bold"/>
                <a:ea typeface="Agrandir Bold"/>
                <a:cs typeface="Agrandir Bold"/>
                <a:sym typeface="Agrandir Bold"/>
              </a:rPr>
              <a:t>EVALUATION METRICS</a:t>
            </a:r>
          </a:p>
          <a:p>
            <a:pPr algn="ctr">
              <a:lnSpc>
                <a:spcPts val="3223"/>
              </a:lnSpc>
              <a:spcBef>
                <a:spcPct val="0"/>
              </a:spcBef>
            </a:pPr>
            <a:endParaRPr lang="en-US" sz="3099" b="1">
              <a:solidFill>
                <a:srgbClr val="000000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47472" y="6003128"/>
            <a:ext cx="7861650" cy="4269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Precision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Recall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F1-score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MOTA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ID Switches</a:t>
            </a:r>
          </a:p>
          <a:p>
            <a:pPr marL="669288" lvl="1" indent="-334644" algn="l">
              <a:lnSpc>
                <a:spcPts val="4153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Centroid MAE</a:t>
            </a:r>
          </a:p>
          <a:p>
            <a:pPr algn="l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8942903" y="5143500"/>
            <a:ext cx="8316397" cy="4621671"/>
          </a:xfrm>
          <a:custGeom>
            <a:avLst/>
            <a:gdLst/>
            <a:ahLst/>
            <a:cxnLst/>
            <a:rect l="l" t="t" r="r" b="b"/>
            <a:pathLst>
              <a:path w="8316397" h="4621671">
                <a:moveTo>
                  <a:pt x="0" y="0"/>
                </a:moveTo>
                <a:lnTo>
                  <a:pt x="8316397" y="0"/>
                </a:lnTo>
                <a:lnTo>
                  <a:pt x="8316397" y="4621671"/>
                </a:lnTo>
                <a:lnTo>
                  <a:pt x="0" y="46216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-601886" y="1318296"/>
            <a:ext cx="4720323" cy="563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2"/>
              </a:lnSpc>
            </a:pPr>
            <a:r>
              <a:rPr lang="en-US" sz="1945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DATASET &amp; EVALUATION</a:t>
            </a:r>
          </a:p>
          <a:p>
            <a:pPr algn="ctr">
              <a:lnSpc>
                <a:spcPts val="2022"/>
              </a:lnSpc>
              <a:spcBef>
                <a:spcPct val="0"/>
              </a:spcBef>
            </a:pPr>
            <a:endParaRPr lang="en-US" sz="1945" b="1">
              <a:solidFill>
                <a:srgbClr val="050056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48051" y="286069"/>
            <a:ext cx="7561347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RESULTS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-164473" y="1700719"/>
            <a:ext cx="11027107" cy="6438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8" lvl="1" indent="-323849" algn="l">
              <a:lnSpc>
                <a:spcPts val="464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YOLOV8 ACHIEVED BEST OVERALL ACCURACY</a:t>
            </a:r>
          </a:p>
          <a:p>
            <a:pPr marL="647698" lvl="1" indent="-323849" algn="just">
              <a:lnSpc>
                <a:spcPts val="464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 F1 ≈ 0.89</a:t>
            </a:r>
          </a:p>
          <a:p>
            <a:pPr marL="647698" lvl="1" indent="-323849" algn="l">
              <a:lnSpc>
                <a:spcPts val="464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MOTA ≈ 0.85</a:t>
            </a:r>
          </a:p>
          <a:p>
            <a:pPr marL="647698" lvl="1" indent="-323849" algn="l">
              <a:lnSpc>
                <a:spcPts val="464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MOG2 PROVIDED FASTEST PERFORMANCE</a:t>
            </a:r>
          </a:p>
          <a:p>
            <a:pPr marL="647698" lvl="1" indent="-323849" algn="l">
              <a:lnSpc>
                <a:spcPts val="464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30–60 FPS ON CPU</a:t>
            </a:r>
          </a:p>
          <a:p>
            <a:pPr marL="647698" lvl="1" indent="-323849" algn="l">
              <a:lnSpc>
                <a:spcPts val="464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GMG SHOWED MODERATE PERFORMANCEBETTER THAN MOG2 IN SOME TEXTURED SCENES</a:t>
            </a:r>
          </a:p>
          <a:p>
            <a:pPr marL="647698" lvl="1" indent="-323849" algn="l">
              <a:lnSpc>
                <a:spcPts val="464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SLOWER DUE TO WARMUP PERIOD</a:t>
            </a:r>
          </a:p>
          <a:p>
            <a:pPr algn="l">
              <a:lnSpc>
                <a:spcPts val="4649"/>
              </a:lnSpc>
            </a:pPr>
            <a:endParaRPr lang="en-US" sz="29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649"/>
              </a:lnSpc>
            </a:pPr>
            <a:endParaRPr lang="en-US" sz="29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649"/>
              </a:lnSpc>
            </a:pPr>
            <a:endParaRPr lang="en-US" sz="2999">
              <a:solidFill>
                <a:srgbClr val="000000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55857" y="1556337"/>
            <a:ext cx="17259300" cy="7701963"/>
          </a:xfrm>
          <a:custGeom>
            <a:avLst/>
            <a:gdLst/>
            <a:ahLst/>
            <a:cxnLst/>
            <a:rect l="l" t="t" r="r" b="b"/>
            <a:pathLst>
              <a:path w="17259300" h="7701963">
                <a:moveTo>
                  <a:pt x="0" y="0"/>
                </a:moveTo>
                <a:lnTo>
                  <a:pt x="17259300" y="0"/>
                </a:lnTo>
                <a:lnTo>
                  <a:pt x="17259300" y="7701963"/>
                </a:lnTo>
                <a:lnTo>
                  <a:pt x="0" y="77019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48051" y="286069"/>
            <a:ext cx="7561347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RESULTS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50056"/>
                </a:solidFill>
                <a:latin typeface="Canva Sans"/>
                <a:ea typeface="Canva Sans"/>
                <a:cs typeface="Canva Sans"/>
                <a:sym typeface="Canva Sans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51193" y="744888"/>
            <a:ext cx="7561347" cy="175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INSIGHTS &amp; ANALYSIS</a:t>
            </a:r>
          </a:p>
          <a:p>
            <a:pPr algn="ctr">
              <a:lnSpc>
                <a:spcPts val="6875"/>
              </a:lnSpc>
            </a:pPr>
            <a:endParaRPr lang="en-US" sz="6610">
              <a:solidFill>
                <a:srgbClr val="050056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149250" y="2985203"/>
            <a:ext cx="9951571" cy="5654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90"/>
              </a:lnSpc>
            </a:pPr>
            <a:r>
              <a:rPr lang="en-US" sz="3099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What We Learned</a:t>
            </a:r>
          </a:p>
          <a:p>
            <a:pPr marL="669288" lvl="1" indent="-334644" algn="l">
              <a:lnSpc>
                <a:spcPts val="4990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No single algorithm is best for all scenarios</a:t>
            </a:r>
          </a:p>
          <a:p>
            <a:pPr marL="669288" lvl="1" indent="-334644" algn="l">
              <a:lnSpc>
                <a:spcPts val="4990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Detector choice is the most important factor</a:t>
            </a:r>
          </a:p>
          <a:p>
            <a:pPr marL="669288" lvl="1" indent="-334644" algn="l">
              <a:lnSpc>
                <a:spcPts val="4990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Scene characteristics should guide algorithm selection</a:t>
            </a:r>
          </a:p>
          <a:p>
            <a:pPr marL="669288" lvl="1" indent="-334644" algn="l">
              <a:lnSpc>
                <a:spcPts val="4990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HSV Re-ID reduced identity switches by ~20%</a:t>
            </a:r>
          </a:p>
          <a:p>
            <a:pPr marL="669288" lvl="1" indent="-334644" algn="l">
              <a:lnSpc>
                <a:spcPts val="4990"/>
              </a:lnSpc>
              <a:buFont typeface="Arial"/>
              <a:buChar char="•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Hyperparameter tuning significantly improves results</a:t>
            </a:r>
          </a:p>
          <a:p>
            <a:pPr algn="ctr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4559258" y="3194753"/>
            <a:ext cx="2700042" cy="5106463"/>
          </a:xfrm>
          <a:custGeom>
            <a:avLst/>
            <a:gdLst/>
            <a:ahLst/>
            <a:cxnLst/>
            <a:rect l="l" t="t" r="r" b="b"/>
            <a:pathLst>
              <a:path w="2700042" h="5106463">
                <a:moveTo>
                  <a:pt x="0" y="0"/>
                </a:moveTo>
                <a:lnTo>
                  <a:pt x="2700042" y="0"/>
                </a:lnTo>
                <a:lnTo>
                  <a:pt x="2700042" y="5106463"/>
                </a:lnTo>
                <a:lnTo>
                  <a:pt x="0" y="51064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904007" y="1336955"/>
            <a:ext cx="6491488" cy="7348854"/>
          </a:xfrm>
          <a:custGeom>
            <a:avLst/>
            <a:gdLst/>
            <a:ahLst/>
            <a:cxnLst/>
            <a:rect l="l" t="t" r="r" b="b"/>
            <a:pathLst>
              <a:path w="6491488" h="7348854">
                <a:moveTo>
                  <a:pt x="0" y="0"/>
                </a:moveTo>
                <a:lnTo>
                  <a:pt x="6491488" y="0"/>
                </a:lnTo>
                <a:lnTo>
                  <a:pt x="6491488" y="7348854"/>
                </a:lnTo>
                <a:lnTo>
                  <a:pt x="0" y="73488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07177" y="785852"/>
            <a:ext cx="11643619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CHALLENGES / FAILURE CASES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07177" y="2921745"/>
            <a:ext cx="9986810" cy="4793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Observed Limitations</a:t>
            </a:r>
          </a:p>
          <a:p>
            <a:pPr marL="1338579" lvl="2" indent="-446193" algn="l">
              <a:lnSpc>
                <a:spcPts val="4153"/>
              </a:lnSpc>
              <a:buFont typeface="Arial"/>
              <a:buChar char="⚬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Motion Blur: Causes inaccurate bounding boxes</a:t>
            </a:r>
          </a:p>
          <a:p>
            <a:pPr marL="1338579" lvl="2" indent="-446193" algn="l">
              <a:lnSpc>
                <a:spcPts val="4153"/>
              </a:lnSpc>
              <a:buFont typeface="Arial"/>
              <a:buChar char="⚬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Occlusion: Can break identity continuity</a:t>
            </a:r>
          </a:p>
          <a:p>
            <a:pPr marL="1338579" lvl="2" indent="-446193" algn="l">
              <a:lnSpc>
                <a:spcPts val="4153"/>
              </a:lnSpc>
              <a:buFont typeface="Arial"/>
              <a:buChar char="⚬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Illumination Changes: Affects background subtraction methods</a:t>
            </a:r>
          </a:p>
          <a:p>
            <a:pPr marL="1338579" lvl="2" indent="-446193" algn="l">
              <a:lnSpc>
                <a:spcPts val="4153"/>
              </a:lnSpc>
              <a:buFont typeface="Arial"/>
              <a:buChar char="⚬"/>
            </a:pPr>
            <a:r>
              <a:rPr lang="en-US" sz="3099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Latency: YOLO is slower without GPU acceleration</a:t>
            </a:r>
          </a:p>
          <a:p>
            <a:pPr algn="l">
              <a:lnSpc>
                <a:spcPts val="4153"/>
              </a:lnSpc>
            </a:pPr>
            <a:endParaRPr lang="en-US" sz="3099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50056"/>
                </a:solidFill>
                <a:latin typeface="Canva Sans"/>
                <a:ea typeface="Canva Sans"/>
                <a:cs typeface="Canva Sans"/>
                <a:sym typeface="Canva Sans"/>
              </a:rPr>
              <a:t>14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04" r="-220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10841" y="1133475"/>
            <a:ext cx="11643619" cy="89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5"/>
              </a:lnSpc>
            </a:pPr>
            <a:r>
              <a:rPr lang="en-US" sz="6610">
                <a:solidFill>
                  <a:srgbClr val="050056"/>
                </a:solidFill>
                <a:latin typeface="Anton"/>
                <a:ea typeface="Anton"/>
                <a:cs typeface="Anton"/>
                <a:sym typeface="Anton"/>
              </a:rPr>
              <a:t>CONCLUSION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0841" y="2760442"/>
            <a:ext cx="12241918" cy="6137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0"/>
              </a:lnSpc>
            </a:pPr>
            <a:r>
              <a:rPr lang="en-US" sz="2907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Final Takeaways</a:t>
            </a:r>
          </a:p>
          <a:p>
            <a:pPr marL="627636" lvl="1" indent="-313818" algn="l">
              <a:lnSpc>
                <a:spcPts val="4360"/>
              </a:lnSpc>
              <a:buFont typeface="Arial"/>
              <a:buChar char="•"/>
            </a:pPr>
            <a:r>
              <a:rPr lang="en-US" sz="2907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Built a complete multi-object tracking pipeline</a:t>
            </a:r>
          </a:p>
          <a:p>
            <a:pPr marL="627636" lvl="1" indent="-313818" algn="l">
              <a:lnSpc>
                <a:spcPts val="4360"/>
              </a:lnSpc>
              <a:buFont typeface="Arial"/>
              <a:buChar char="•"/>
            </a:pPr>
            <a:r>
              <a:rPr lang="en-US" sz="2907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Compared classical and deep-learning methods</a:t>
            </a:r>
          </a:p>
          <a:p>
            <a:pPr marL="627636" lvl="1" indent="-313818" algn="l">
              <a:lnSpc>
                <a:spcPts val="4360"/>
              </a:lnSpc>
              <a:buFont typeface="Arial"/>
              <a:buChar char="•"/>
            </a:pPr>
            <a:r>
              <a:rPr lang="en-US" sz="2907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Demonstrated that algorithm selection must be scene-aware</a:t>
            </a:r>
          </a:p>
          <a:p>
            <a:pPr marL="627636" lvl="1" indent="-313818" algn="l">
              <a:lnSpc>
                <a:spcPts val="4360"/>
              </a:lnSpc>
              <a:buFont typeface="Arial"/>
              <a:buChar char="•"/>
            </a:pPr>
            <a:r>
              <a:rPr lang="en-US" sz="2907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Validated importance of modular design + systematic tuning</a:t>
            </a:r>
          </a:p>
          <a:p>
            <a:pPr algn="l">
              <a:lnSpc>
                <a:spcPts val="4660"/>
              </a:lnSpc>
            </a:pPr>
            <a:endParaRPr lang="en-US" sz="2907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199"/>
              </a:lnSpc>
            </a:pPr>
            <a:endParaRPr lang="en-US" sz="2907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360"/>
              </a:lnSpc>
            </a:pPr>
            <a:r>
              <a:rPr lang="en-US" sz="2907" b="1">
                <a:solidFill>
                  <a:srgbClr val="050056"/>
                </a:solidFill>
                <a:latin typeface="Agrandir Bold"/>
                <a:ea typeface="Agrandir Bold"/>
                <a:cs typeface="Agrandir Bold"/>
                <a:sym typeface="Agrandir Bold"/>
              </a:rPr>
              <a:t>Core Insight:</a:t>
            </a:r>
          </a:p>
          <a:p>
            <a:pPr algn="l">
              <a:lnSpc>
                <a:spcPts val="4360"/>
              </a:lnSpc>
            </a:pPr>
            <a:r>
              <a:rPr lang="en-US" sz="2907">
                <a:solidFill>
                  <a:srgbClr val="050056"/>
                </a:solidFill>
                <a:latin typeface="Agrandir"/>
                <a:ea typeface="Agrandir"/>
                <a:cs typeface="Agrandir"/>
                <a:sym typeface="Agrandir"/>
              </a:rPr>
              <a:t>There is no universal best tracker — performance depends on context.</a:t>
            </a:r>
          </a:p>
          <a:p>
            <a:pPr algn="l">
              <a:lnSpc>
                <a:spcPts val="4360"/>
              </a:lnSpc>
            </a:pPr>
            <a:endParaRPr lang="en-US" sz="2907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4360"/>
              </a:lnSpc>
            </a:pPr>
            <a:endParaRPr lang="en-US" sz="2907">
              <a:solidFill>
                <a:srgbClr val="050056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50056"/>
                </a:solidFill>
                <a:latin typeface="Canva Sans"/>
                <a:ea typeface="Canva Sans"/>
                <a:cs typeface="Canva Sans"/>
                <a:sym typeface="Canva Sans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057" y="9971252"/>
            <a:ext cx="15095031" cy="315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2"/>
              </a:lnSpc>
              <a:spcBef>
                <a:spcPct val="0"/>
              </a:spcBef>
            </a:pPr>
            <a:r>
              <a:rPr lang="en-US" sz="1945" b="1">
                <a:gradFill>
                  <a:gsLst>
                    <a:gs pos="0">
                      <a:srgbClr val="00B3FF">
                        <a:alpha val="100000"/>
                      </a:srgbClr>
                    </a:gs>
                    <a:gs pos="100000">
                      <a:srgbClr val="3A459B">
                        <a:alpha val="100000"/>
                      </a:srgbClr>
                    </a:gs>
                  </a:gsLst>
                  <a:lin ang="0"/>
                </a:gradFill>
                <a:latin typeface="Agrandir Bold"/>
                <a:ea typeface="Agrandir Bold"/>
                <a:cs typeface="Agrandir Bold"/>
                <a:sym typeface="Agrandir Bold"/>
              </a:rPr>
              <a:t>GROUP: 07, MD NAFIUL ALAM CHOWDHURY, FAHAD HOSSAIN SHOUROV, FARHANA RAHMAN, MD SHADMAN SHIHAB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561430" y="3911201"/>
            <a:ext cx="8176407" cy="22836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565"/>
              </a:lnSpc>
              <a:spcBef>
                <a:spcPct val="0"/>
              </a:spcBef>
            </a:pPr>
            <a:r>
              <a:rPr lang="en-US" sz="13854" spc="1011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1012</Words>
  <Application>Microsoft Office PowerPoint</Application>
  <PresentationFormat>Custom</PresentationFormat>
  <Paragraphs>213</Paragraphs>
  <Slides>17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Anton</vt:lpstr>
      <vt:lpstr>Calibri</vt:lpstr>
      <vt:lpstr>Canva Sans</vt:lpstr>
      <vt:lpstr>Agrandir</vt:lpstr>
      <vt:lpstr>Agrandir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Futuristic Artificial Intelligence Presentation</dc:title>
  <cp:lastModifiedBy>Shadman</cp:lastModifiedBy>
  <cp:revision>1</cp:revision>
  <dcterms:created xsi:type="dcterms:W3CDTF">2006-08-16T00:00:00Z</dcterms:created>
  <dcterms:modified xsi:type="dcterms:W3CDTF">2026-05-02T05:18:34Z</dcterms:modified>
  <dc:identifier>DAHIPx8EpiY</dc:identifier>
</cp:coreProperties>
</file>